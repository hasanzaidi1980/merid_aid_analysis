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44727-7408-4643-8A66-0805141CB5C4}" v="8" dt="2025-12-04T23:33:40.21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348" y="2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DBF28-FC2D-4FC9-B277-7ECF1F8C193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3D398-C2B4-4659-AFA2-6C64AADF0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373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D398-C2B4-4659-AFA2-6C64AADF0D3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042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D398-C2B4-4659-AFA2-6C64AADF0D3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751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D398-C2B4-4659-AFA2-6C64AADF0D3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23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08163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08163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08163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08163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1225" y="589138"/>
            <a:ext cx="15652115" cy="766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08163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69157" y="1812977"/>
            <a:ext cx="14713585" cy="3992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ython.org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00B0-E386-4985-981D-DCCDAE5A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223" y="2524125"/>
            <a:ext cx="15652115" cy="830997"/>
          </a:xfrm>
        </p:spPr>
        <p:txBody>
          <a:bodyPr/>
          <a:lstStyle/>
          <a:p>
            <a:pPr algn="ctr"/>
            <a:r>
              <a:rPr lang="en-IN" sz="5400" dirty="0"/>
              <a:t>Phase 3 Final Submission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3902-84C1-CA11-54BE-9FC42B8A1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0489" y="7239000"/>
            <a:ext cx="14713585" cy="430887"/>
          </a:xfrm>
        </p:spPr>
        <p:txBody>
          <a:bodyPr/>
          <a:lstStyle/>
          <a:p>
            <a:pPr algn="ctr"/>
            <a:r>
              <a:rPr lang="en-IN" sz="2800" dirty="0">
                <a:latin typeface="+mj-lt"/>
              </a:rPr>
              <a:t>Group 2: Hasan Zaidi, Mohammad Sufyaan</a:t>
            </a:r>
          </a:p>
        </p:txBody>
      </p:sp>
    </p:spTree>
    <p:extLst>
      <p:ext uri="{BB962C8B-B14F-4D97-AF65-F5344CB8AC3E}">
        <p14:creationId xmlns:p14="http://schemas.microsoft.com/office/powerpoint/2010/main" val="782204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1700" y="2565400"/>
            <a:ext cx="4749800" cy="5816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1001" y="714022"/>
            <a:ext cx="14850744" cy="1540806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3335" marR="5080" indent="-1270">
              <a:lnSpc>
                <a:spcPts val="5450"/>
              </a:lnSpc>
              <a:spcBef>
                <a:spcPts val="1015"/>
              </a:spcBef>
            </a:pPr>
            <a:r>
              <a:rPr sz="4800" dirty="0"/>
              <a:t>Beyond Sticker Price: Finding Affordable Excellence for Middle-Class Families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99117" y="8483247"/>
            <a:ext cx="152273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latin typeface="Arial MT"/>
                <a:cs typeface="Arial MT"/>
              </a:rPr>
              <a:t>Sticker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Price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2097" y="8483247"/>
            <a:ext cx="123190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10" dirty="0">
                <a:latin typeface="Arial MT"/>
                <a:cs typeface="Arial MT"/>
              </a:rPr>
              <a:t>Your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Price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71044" y="2438223"/>
            <a:ext cx="7472680" cy="302387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600" spc="-50" dirty="0">
                <a:solidFill>
                  <a:srgbClr val="181818"/>
                </a:solidFill>
                <a:latin typeface="Arial MT"/>
                <a:cs typeface="Arial MT"/>
              </a:rPr>
              <a:t>The</a:t>
            </a:r>
            <a:r>
              <a:rPr sz="2600" spc="-1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600" spc="-45" dirty="0">
                <a:solidFill>
                  <a:srgbClr val="051831"/>
                </a:solidFill>
                <a:latin typeface="Arial MT"/>
                <a:cs typeface="Arial MT"/>
              </a:rPr>
              <a:t>Challenge:</a:t>
            </a:r>
            <a:r>
              <a:rPr sz="2600" spc="-60" dirty="0">
                <a:solidFill>
                  <a:srgbClr val="051831"/>
                </a:solidFill>
                <a:latin typeface="Arial MT"/>
                <a:cs typeface="Arial MT"/>
              </a:rPr>
              <a:t> </a:t>
            </a:r>
            <a:r>
              <a:rPr sz="2600" spc="-85" dirty="0">
                <a:solidFill>
                  <a:srgbClr val="0F1F38"/>
                </a:solidFill>
                <a:latin typeface="Arial MT"/>
                <a:cs typeface="Arial MT"/>
              </a:rPr>
              <a:t>The</a:t>
            </a:r>
            <a:r>
              <a:rPr sz="2600" spc="-130" dirty="0">
                <a:solidFill>
                  <a:srgbClr val="0F1F38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081A38"/>
                </a:solidFill>
                <a:latin typeface="Arial MT"/>
                <a:cs typeface="Arial MT"/>
              </a:rPr>
              <a:t>Middle-</a:t>
            </a:r>
            <a:r>
              <a:rPr sz="2600" dirty="0">
                <a:solidFill>
                  <a:srgbClr val="081A38"/>
                </a:solidFill>
                <a:latin typeface="Arial MT"/>
                <a:cs typeface="Arial MT"/>
              </a:rPr>
              <a:t>Class</a:t>
            </a:r>
            <a:r>
              <a:rPr sz="2600" spc="-10" dirty="0">
                <a:solidFill>
                  <a:srgbClr val="081A38"/>
                </a:solidFill>
                <a:latin typeface="Arial MT"/>
                <a:cs typeface="Arial MT"/>
              </a:rPr>
              <a:t> </a:t>
            </a:r>
            <a:r>
              <a:rPr sz="2600" spc="-35" dirty="0">
                <a:solidFill>
                  <a:srgbClr val="050E1F"/>
                </a:solidFill>
                <a:latin typeface="Arial MT"/>
                <a:cs typeface="Arial MT"/>
              </a:rPr>
              <a:t>"Aid</a:t>
            </a:r>
            <a:r>
              <a:rPr sz="2600" spc="-250" dirty="0">
                <a:solidFill>
                  <a:srgbClr val="050E1F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131313"/>
                </a:solidFill>
                <a:latin typeface="Arial MT"/>
                <a:cs typeface="Arial MT"/>
              </a:rPr>
              <a:t>Gap"</a:t>
            </a:r>
            <a:endParaRPr sz="2600" dirty="0">
              <a:latin typeface="Arial MT"/>
              <a:cs typeface="Arial MT"/>
            </a:endParaRPr>
          </a:p>
          <a:p>
            <a:pPr marL="377825" marR="401955" indent="-233045">
              <a:lnSpc>
                <a:spcPct val="100499"/>
              </a:lnSpc>
              <a:spcBef>
                <a:spcPts val="615"/>
              </a:spcBef>
              <a:buChar char="•"/>
              <a:tabLst>
                <a:tab pos="382270" algn="l"/>
              </a:tabLst>
            </a:pPr>
            <a:r>
              <a:rPr sz="2200" spc="-80" dirty="0">
                <a:latin typeface="Arial MT"/>
                <a:cs typeface="Arial MT"/>
              </a:rPr>
              <a:t>Families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65" dirty="0">
                <a:latin typeface="Arial MT"/>
                <a:cs typeface="Arial MT"/>
              </a:rPr>
              <a:t>$75,001—</a:t>
            </a:r>
            <a:r>
              <a:rPr sz="2200" spc="-150" dirty="0">
                <a:latin typeface="Arial MT"/>
                <a:cs typeface="Arial MT"/>
              </a:rPr>
              <a:t>$110,000</a:t>
            </a:r>
            <a:r>
              <a:rPr sz="2200" spc="-16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income </a:t>
            </a:r>
            <a:r>
              <a:rPr sz="2200" spc="-25" dirty="0">
                <a:latin typeface="Arial MT"/>
                <a:cs typeface="Arial MT"/>
              </a:rPr>
              <a:t>bracket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face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a 	</a:t>
            </a:r>
            <a:r>
              <a:rPr sz="2200" spc="-60" dirty="0">
                <a:latin typeface="Arial MT"/>
                <a:cs typeface="Arial MT"/>
              </a:rPr>
              <a:t>unique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challenge: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often</a:t>
            </a:r>
            <a:r>
              <a:rPr sz="2200" spc="-15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ineligible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significant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federal 	</a:t>
            </a:r>
            <a:r>
              <a:rPr sz="2200" spc="-45" dirty="0">
                <a:latin typeface="Arial MT"/>
                <a:cs typeface="Arial MT"/>
              </a:rPr>
              <a:t>need-</a:t>
            </a:r>
            <a:r>
              <a:rPr sz="2200" dirty="0">
                <a:latin typeface="Arial MT"/>
                <a:cs typeface="Arial MT"/>
              </a:rPr>
              <a:t>based</a:t>
            </a:r>
            <a:r>
              <a:rPr sz="2200" spc="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aid,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yet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unable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comfortably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afford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a 	</a:t>
            </a:r>
            <a:r>
              <a:rPr sz="2200" spc="-105" dirty="0">
                <a:latin typeface="Arial MT"/>
                <a:cs typeface="Arial MT"/>
              </a:rPr>
              <a:t>university's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full</a:t>
            </a:r>
            <a:r>
              <a:rPr sz="2200" spc="-90" dirty="0">
                <a:latin typeface="Arial MT"/>
                <a:cs typeface="Arial MT"/>
              </a:rPr>
              <a:t> sticker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price.</a:t>
            </a:r>
            <a:endParaRPr sz="2200" dirty="0">
              <a:latin typeface="Arial MT"/>
              <a:cs typeface="Arial MT"/>
            </a:endParaRPr>
          </a:p>
          <a:p>
            <a:pPr marL="374650" marR="5080" indent="-229870">
              <a:lnSpc>
                <a:spcPct val="100400"/>
              </a:lnSpc>
              <a:spcBef>
                <a:spcPts val="320"/>
              </a:spcBef>
              <a:buChar char="•"/>
              <a:tabLst>
                <a:tab pos="382270" algn="l"/>
              </a:tabLst>
            </a:pPr>
            <a:r>
              <a:rPr sz="2200" spc="-105" dirty="0">
                <a:latin typeface="Arial MT"/>
                <a:cs typeface="Arial MT"/>
              </a:rPr>
              <a:t>Our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project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directly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addresses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gap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focusing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on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a 	</a:t>
            </a:r>
            <a:r>
              <a:rPr sz="2200" spc="-35" dirty="0">
                <a:latin typeface="Arial MT"/>
                <a:cs typeface="Arial MT"/>
              </a:rPr>
              <a:t>less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40" dirty="0">
                <a:latin typeface="Arial MT"/>
                <a:cs typeface="Arial MT"/>
              </a:rPr>
              <a:t>transparent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highly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impactful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funding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65" dirty="0">
                <a:latin typeface="Arial MT"/>
                <a:cs typeface="Arial MT"/>
              </a:rPr>
              <a:t>source: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merit- 	</a:t>
            </a:r>
            <a:r>
              <a:rPr sz="2200" spc="-110" dirty="0">
                <a:latin typeface="Arial MT"/>
                <a:cs typeface="Arial MT"/>
              </a:rPr>
              <a:t>based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90" dirty="0">
                <a:latin typeface="Arial MT"/>
                <a:cs typeface="Arial MT"/>
              </a:rPr>
              <a:t>scholarships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50" dirty="0">
                <a:latin typeface="Arial MT"/>
                <a:cs typeface="Arial MT"/>
              </a:rPr>
              <a:t>and</a:t>
            </a:r>
            <a:r>
              <a:rPr sz="2200" spc="-50" dirty="0">
                <a:latin typeface="Arial MT"/>
                <a:cs typeface="Arial MT"/>
              </a:rPr>
              <a:t> institutional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grants.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75397" y="5785864"/>
            <a:ext cx="7454265" cy="30168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600" spc="-90" dirty="0">
                <a:solidFill>
                  <a:srgbClr val="05182F"/>
                </a:solidFill>
                <a:latin typeface="Arial MT"/>
                <a:cs typeface="Arial MT"/>
              </a:rPr>
              <a:t>Our</a:t>
            </a:r>
            <a:r>
              <a:rPr sz="2600" spc="-70" dirty="0">
                <a:solidFill>
                  <a:srgbClr val="05182F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F0F0F"/>
                </a:solidFill>
                <a:latin typeface="Arial MT"/>
                <a:cs typeface="Arial MT"/>
              </a:rPr>
              <a:t>Mission:</a:t>
            </a:r>
            <a:r>
              <a:rPr sz="2600" spc="3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600" spc="-180" dirty="0">
                <a:solidFill>
                  <a:srgbClr val="081636"/>
                </a:solidFill>
                <a:latin typeface="Arial MT"/>
                <a:cs typeface="Arial MT"/>
              </a:rPr>
              <a:t>A</a:t>
            </a:r>
            <a:r>
              <a:rPr sz="2600" spc="-185" dirty="0">
                <a:solidFill>
                  <a:srgbClr val="081636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A1C3A"/>
                </a:solidFill>
                <a:latin typeface="Arial MT"/>
                <a:cs typeface="Arial MT"/>
              </a:rPr>
              <a:t>Data-</a:t>
            </a:r>
            <a:r>
              <a:rPr sz="2600" dirty="0">
                <a:solidFill>
                  <a:srgbClr val="0A1C3A"/>
                </a:solidFill>
                <a:latin typeface="Arial MT"/>
                <a:cs typeface="Arial MT"/>
              </a:rPr>
              <a:t>Driven</a:t>
            </a:r>
            <a:r>
              <a:rPr sz="2600" spc="-40" dirty="0">
                <a:solidFill>
                  <a:srgbClr val="0A1C3A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A1A31"/>
                </a:solidFill>
                <a:latin typeface="Arial MT"/>
                <a:cs typeface="Arial MT"/>
              </a:rPr>
              <a:t>Path</a:t>
            </a:r>
            <a:r>
              <a:rPr sz="2600" spc="-114" dirty="0">
                <a:solidFill>
                  <a:srgbClr val="0A1A31"/>
                </a:solidFill>
                <a:latin typeface="Arial MT"/>
                <a:cs typeface="Arial MT"/>
              </a:rPr>
              <a:t> </a:t>
            </a:r>
            <a:r>
              <a:rPr sz="2600" spc="114" dirty="0">
                <a:solidFill>
                  <a:srgbClr val="05152B"/>
                </a:solidFill>
                <a:latin typeface="Arial MT"/>
                <a:cs typeface="Arial MT"/>
              </a:rPr>
              <a:t>to</a:t>
            </a:r>
            <a:r>
              <a:rPr sz="2600" spc="-280" dirty="0">
                <a:solidFill>
                  <a:srgbClr val="05152B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A1C3F"/>
                </a:solidFill>
                <a:latin typeface="Arial MT"/>
                <a:cs typeface="Arial MT"/>
              </a:rPr>
              <a:t>Minimal</a:t>
            </a:r>
            <a:r>
              <a:rPr sz="2600" spc="-105" dirty="0">
                <a:solidFill>
                  <a:srgbClr val="0A1C3F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0A1D3B"/>
                </a:solidFill>
                <a:latin typeface="Arial MT"/>
                <a:cs typeface="Arial MT"/>
              </a:rPr>
              <a:t>Debt</a:t>
            </a:r>
            <a:endParaRPr sz="2600" dirty="0">
              <a:latin typeface="Arial MT"/>
              <a:cs typeface="Arial MT"/>
            </a:endParaRPr>
          </a:p>
          <a:p>
            <a:pPr marL="365760" marR="5080" indent="-225425">
              <a:lnSpc>
                <a:spcPct val="101000"/>
              </a:lnSpc>
              <a:spcBef>
                <a:spcPts val="555"/>
              </a:spcBef>
              <a:buChar char="•"/>
              <a:tabLst>
                <a:tab pos="365760" algn="l"/>
                <a:tab pos="377825" algn="l"/>
              </a:tabLst>
            </a:pPr>
            <a:r>
              <a:rPr sz="2200" dirty="0">
                <a:latin typeface="Arial MT"/>
                <a:cs typeface="Arial MT"/>
              </a:rPr>
              <a:t>	</a:t>
            </a:r>
            <a:r>
              <a:rPr sz="2200" spc="-165" dirty="0">
                <a:latin typeface="Arial MT"/>
                <a:cs typeface="Arial MT"/>
              </a:rPr>
              <a:t>To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leverage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data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science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identify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top</a:t>
            </a:r>
            <a:r>
              <a:rPr sz="2200" spc="-17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10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four-</a:t>
            </a:r>
            <a:r>
              <a:rPr sz="2200" spc="-20" dirty="0">
                <a:latin typeface="Arial MT"/>
                <a:cs typeface="Arial MT"/>
              </a:rPr>
              <a:t>year </a:t>
            </a:r>
            <a:r>
              <a:rPr sz="2200" dirty="0">
                <a:latin typeface="Arial MT"/>
                <a:cs typeface="Arial MT"/>
              </a:rPr>
              <a:t>institutions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offer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best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financial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65" dirty="0">
                <a:latin typeface="Arial MT"/>
                <a:cs typeface="Arial MT"/>
              </a:rPr>
              <a:t>value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40" dirty="0">
                <a:latin typeface="Arial MT"/>
                <a:cs typeface="Arial MT"/>
              </a:rPr>
              <a:t>and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academic </a:t>
            </a:r>
            <a:r>
              <a:rPr sz="2200" spc="-20" dirty="0">
                <a:latin typeface="Arial MT"/>
                <a:cs typeface="Arial MT"/>
              </a:rPr>
              <a:t>return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high-</a:t>
            </a:r>
            <a:r>
              <a:rPr sz="2200" spc="-25" dirty="0">
                <a:latin typeface="Arial MT"/>
                <a:cs typeface="Arial MT"/>
              </a:rPr>
              <a:t>achieving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students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from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45" dirty="0">
                <a:latin typeface="Arial MT"/>
                <a:cs typeface="Arial MT"/>
              </a:rPr>
              <a:t>middle-</a:t>
            </a:r>
            <a:r>
              <a:rPr sz="2200" spc="-10" dirty="0">
                <a:latin typeface="Arial MT"/>
                <a:cs typeface="Arial MT"/>
              </a:rPr>
              <a:t>income </a:t>
            </a:r>
            <a:r>
              <a:rPr sz="2300" spc="-40" dirty="0">
                <a:latin typeface="Arial MT"/>
                <a:cs typeface="Arial MT"/>
              </a:rPr>
              <a:t>backgrounds.</a:t>
            </a:r>
            <a:endParaRPr sz="2300" dirty="0">
              <a:latin typeface="Arial MT"/>
              <a:cs typeface="Arial MT"/>
            </a:endParaRPr>
          </a:p>
          <a:p>
            <a:pPr marL="372745" marR="332740" indent="-232410" algn="just">
              <a:lnSpc>
                <a:spcPts val="2700"/>
              </a:lnSpc>
              <a:spcBef>
                <a:spcPts val="380"/>
              </a:spcBef>
              <a:buChar char="•"/>
              <a:tabLst>
                <a:tab pos="372745" algn="l"/>
                <a:tab pos="377190" algn="l"/>
              </a:tabLst>
            </a:pPr>
            <a:r>
              <a:rPr sz="2200" dirty="0">
                <a:latin typeface="Arial MT"/>
                <a:cs typeface="Arial MT"/>
              </a:rPr>
              <a:t>	</a:t>
            </a:r>
            <a:r>
              <a:rPr sz="2200" spc="-55" dirty="0">
                <a:latin typeface="Arial MT"/>
                <a:cs typeface="Arial MT"/>
              </a:rPr>
              <a:t>The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45" dirty="0">
                <a:latin typeface="Arial MT"/>
                <a:cs typeface="Arial MT"/>
              </a:rPr>
              <a:t>Final</a:t>
            </a:r>
            <a:r>
              <a:rPr sz="2200" spc="-70" dirty="0">
                <a:latin typeface="Arial MT"/>
                <a:cs typeface="Arial MT"/>
              </a:rPr>
              <a:t> Goal: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60" dirty="0">
                <a:latin typeface="Arial MT"/>
                <a:cs typeface="Arial MT"/>
              </a:rPr>
              <a:t>To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provide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210" dirty="0">
                <a:latin typeface="Arial MT"/>
                <a:cs typeface="Arial MT"/>
              </a:rPr>
              <a:t>a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85" dirty="0">
                <a:latin typeface="Arial MT"/>
                <a:cs typeface="Arial MT"/>
              </a:rPr>
              <a:t>clear,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actionable</a:t>
            </a:r>
            <a:r>
              <a:rPr sz="2200" spc="17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shortlist</a:t>
            </a:r>
            <a:r>
              <a:rPr sz="2200" spc="170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of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300" spc="-95" dirty="0">
                <a:latin typeface="Arial MT"/>
                <a:cs typeface="Arial MT"/>
              </a:rPr>
              <a:t>colleges</a:t>
            </a:r>
            <a:r>
              <a:rPr sz="2300" spc="70" dirty="0">
                <a:latin typeface="Arial MT"/>
                <a:cs typeface="Arial MT"/>
              </a:rPr>
              <a:t> </a:t>
            </a:r>
            <a:r>
              <a:rPr sz="2300" spc="-75" dirty="0">
                <a:latin typeface="Arial MT"/>
                <a:cs typeface="Arial MT"/>
              </a:rPr>
              <a:t>that</a:t>
            </a:r>
            <a:r>
              <a:rPr sz="2300" spc="25" dirty="0">
                <a:latin typeface="Arial MT"/>
                <a:cs typeface="Arial MT"/>
              </a:rPr>
              <a:t> </a:t>
            </a:r>
            <a:r>
              <a:rPr sz="2300" spc="-114" dirty="0">
                <a:latin typeface="Arial MT"/>
                <a:cs typeface="Arial MT"/>
              </a:rPr>
              <a:t>enables</a:t>
            </a:r>
            <a:r>
              <a:rPr sz="2300" spc="65" dirty="0">
                <a:latin typeface="Arial MT"/>
                <a:cs typeface="Arial MT"/>
              </a:rPr>
              <a:t> </a:t>
            </a:r>
            <a:r>
              <a:rPr sz="2300" spc="-105" dirty="0">
                <a:latin typeface="Arial MT"/>
                <a:cs typeface="Arial MT"/>
              </a:rPr>
              <a:t>graduating</a:t>
            </a:r>
            <a:r>
              <a:rPr sz="2300" spc="165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with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60" dirty="0">
                <a:latin typeface="Arial MT"/>
                <a:cs typeface="Arial MT"/>
              </a:rPr>
              <a:t>the</a:t>
            </a:r>
            <a:r>
              <a:rPr sz="2300" spc="-105" dirty="0">
                <a:latin typeface="Arial MT"/>
                <a:cs typeface="Arial MT"/>
              </a:rPr>
              <a:t> </a:t>
            </a:r>
            <a:r>
              <a:rPr sz="2300" spc="-114" dirty="0">
                <a:latin typeface="Arial MT"/>
                <a:cs typeface="Arial MT"/>
              </a:rPr>
              <a:t>least</a:t>
            </a:r>
            <a:r>
              <a:rPr sz="2300" spc="105" dirty="0">
                <a:latin typeface="Arial MT"/>
                <a:cs typeface="Arial MT"/>
              </a:rPr>
              <a:t> </a:t>
            </a:r>
            <a:r>
              <a:rPr sz="2300" spc="-114" dirty="0">
                <a:latin typeface="Arial MT"/>
                <a:cs typeface="Arial MT"/>
              </a:rPr>
              <a:t>possible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60" dirty="0">
                <a:latin typeface="Arial MT"/>
                <a:cs typeface="Arial MT"/>
              </a:rPr>
              <a:t>debt.</a:t>
            </a:r>
            <a:endParaRPr sz="23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700" y="1981200"/>
            <a:ext cx="1422400" cy="1727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5600" y="1968500"/>
            <a:ext cx="1536700" cy="1752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12900" y="1981200"/>
            <a:ext cx="1828800" cy="1714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75100" y="1689100"/>
            <a:ext cx="50800" cy="34798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253816" y="1651000"/>
            <a:ext cx="0" cy="3594100"/>
          </a:xfrm>
          <a:custGeom>
            <a:avLst/>
            <a:gdLst/>
            <a:ahLst/>
            <a:cxnLst/>
            <a:rect l="l" t="t" r="r" b="b"/>
            <a:pathLst>
              <a:path h="3594100">
                <a:moveTo>
                  <a:pt x="0" y="3594100"/>
                </a:moveTo>
                <a:lnTo>
                  <a:pt x="0" y="0"/>
                </a:lnTo>
              </a:path>
            </a:pathLst>
          </a:custGeom>
          <a:ln w="21166">
            <a:solidFill>
              <a:srgbClr val="576B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243233" y="1651000"/>
            <a:ext cx="2955290" cy="3594100"/>
            <a:chOff x="7243233" y="1651000"/>
            <a:chExt cx="2955290" cy="3594100"/>
          </a:xfrm>
        </p:grpSpPr>
        <p:sp>
          <p:nvSpPr>
            <p:cNvPr id="8" name="object 8"/>
            <p:cNvSpPr/>
            <p:nvPr/>
          </p:nvSpPr>
          <p:spPr>
            <a:xfrm>
              <a:off x="10187516" y="1651000"/>
              <a:ext cx="0" cy="3594100"/>
            </a:xfrm>
            <a:custGeom>
              <a:avLst/>
              <a:gdLst/>
              <a:ahLst/>
              <a:cxnLst/>
              <a:rect l="l" t="t" r="r" b="b"/>
              <a:pathLst>
                <a:path h="3594100">
                  <a:moveTo>
                    <a:pt x="0" y="3594100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576B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43233" y="1661583"/>
              <a:ext cx="2955290" cy="0"/>
            </a:xfrm>
            <a:custGeom>
              <a:avLst/>
              <a:gdLst/>
              <a:ahLst/>
              <a:cxnLst/>
              <a:rect l="l" t="t" r="r" b="b"/>
              <a:pathLst>
                <a:path w="2955290">
                  <a:moveTo>
                    <a:pt x="0" y="0"/>
                  </a:moveTo>
                  <a:lnTo>
                    <a:pt x="2954866" y="0"/>
                  </a:lnTo>
                </a:path>
              </a:pathLst>
            </a:custGeom>
            <a:ln w="21166">
              <a:solidFill>
                <a:srgbClr val="576B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43233" y="5234516"/>
              <a:ext cx="2955290" cy="0"/>
            </a:xfrm>
            <a:custGeom>
              <a:avLst/>
              <a:gdLst/>
              <a:ahLst/>
              <a:cxnLst/>
              <a:rect l="l" t="t" r="r" b="b"/>
              <a:pathLst>
                <a:path w="2955290">
                  <a:moveTo>
                    <a:pt x="0" y="0"/>
                  </a:moveTo>
                  <a:lnTo>
                    <a:pt x="2954866" y="0"/>
                  </a:lnTo>
                </a:path>
              </a:pathLst>
            </a:custGeom>
            <a:ln w="21166">
              <a:solidFill>
                <a:srgbClr val="576B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3748616" y="1710267"/>
            <a:ext cx="0" cy="3433445"/>
          </a:xfrm>
          <a:custGeom>
            <a:avLst/>
            <a:gdLst/>
            <a:ahLst/>
            <a:cxnLst/>
            <a:rect l="l" t="t" r="r" b="b"/>
            <a:pathLst>
              <a:path h="3433445">
                <a:moveTo>
                  <a:pt x="0" y="34332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54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3733800" y="1735667"/>
            <a:ext cx="3522345" cy="3369945"/>
            <a:chOff x="3733800" y="1735667"/>
            <a:chExt cx="3522345" cy="3369945"/>
          </a:xfrm>
        </p:grpSpPr>
        <p:sp>
          <p:nvSpPr>
            <p:cNvPr id="13" name="object 13"/>
            <p:cNvSpPr/>
            <p:nvPr/>
          </p:nvSpPr>
          <p:spPr>
            <a:xfrm>
              <a:off x="7253816" y="1735667"/>
              <a:ext cx="0" cy="3369945"/>
            </a:xfrm>
            <a:custGeom>
              <a:avLst/>
              <a:gdLst/>
              <a:ahLst/>
              <a:cxnLst/>
              <a:rect l="l" t="t" r="r" b="b"/>
              <a:pathLst>
                <a:path h="3369945">
                  <a:moveTo>
                    <a:pt x="0" y="3369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C54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33800" y="2868083"/>
              <a:ext cx="3522345" cy="0"/>
            </a:xfrm>
            <a:custGeom>
              <a:avLst/>
              <a:gdLst/>
              <a:ahLst/>
              <a:cxnLst/>
              <a:rect l="l" t="t" r="r" b="b"/>
              <a:pathLst>
                <a:path w="3522345">
                  <a:moveTo>
                    <a:pt x="0" y="0"/>
                  </a:moveTo>
                  <a:lnTo>
                    <a:pt x="3522133" y="0"/>
                  </a:lnTo>
                </a:path>
              </a:pathLst>
            </a:custGeom>
            <a:ln w="4233">
              <a:solidFill>
                <a:srgbClr val="1C54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33800" y="2804583"/>
              <a:ext cx="3496945" cy="0"/>
            </a:xfrm>
            <a:custGeom>
              <a:avLst/>
              <a:gdLst/>
              <a:ahLst/>
              <a:cxnLst/>
              <a:rect l="l" t="t" r="r" b="b"/>
              <a:pathLst>
                <a:path w="3496945">
                  <a:moveTo>
                    <a:pt x="0" y="0"/>
                  </a:moveTo>
                  <a:lnTo>
                    <a:pt x="3496733" y="0"/>
                  </a:lnTo>
                </a:path>
              </a:pathLst>
            </a:custGeom>
            <a:ln w="4233">
              <a:solidFill>
                <a:srgbClr val="1C54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38200" y="1595967"/>
            <a:ext cx="2861945" cy="55244"/>
            <a:chOff x="838200" y="1595967"/>
            <a:chExt cx="2861945" cy="55244"/>
          </a:xfrm>
        </p:grpSpPr>
        <p:sp>
          <p:nvSpPr>
            <p:cNvPr id="17" name="object 17"/>
            <p:cNvSpPr/>
            <p:nvPr/>
          </p:nvSpPr>
          <p:spPr>
            <a:xfrm>
              <a:off x="838200" y="1636183"/>
              <a:ext cx="2861945" cy="0"/>
            </a:xfrm>
            <a:custGeom>
              <a:avLst/>
              <a:gdLst/>
              <a:ahLst/>
              <a:cxnLst/>
              <a:rect l="l" t="t" r="r" b="b"/>
              <a:pathLst>
                <a:path w="2861945">
                  <a:moveTo>
                    <a:pt x="0" y="0"/>
                  </a:moveTo>
                  <a:lnTo>
                    <a:pt x="2861733" y="0"/>
                  </a:lnTo>
                </a:path>
              </a:pathLst>
            </a:custGeom>
            <a:ln w="29633">
              <a:solidFill>
                <a:srgbClr val="5B70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3600" y="1610783"/>
              <a:ext cx="2798445" cy="0"/>
            </a:xfrm>
            <a:custGeom>
              <a:avLst/>
              <a:gdLst/>
              <a:ahLst/>
              <a:cxnLst/>
              <a:rect l="l" t="t" r="r" b="b"/>
              <a:pathLst>
                <a:path w="2798445">
                  <a:moveTo>
                    <a:pt x="0" y="0"/>
                  </a:moveTo>
                  <a:lnTo>
                    <a:pt x="2798233" y="0"/>
                  </a:lnTo>
                </a:path>
              </a:pathLst>
            </a:custGeom>
            <a:ln w="29633">
              <a:solidFill>
                <a:srgbClr val="5B70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315200" y="1595967"/>
            <a:ext cx="2849245" cy="55244"/>
            <a:chOff x="7315200" y="1595967"/>
            <a:chExt cx="2849245" cy="55244"/>
          </a:xfrm>
        </p:grpSpPr>
        <p:sp>
          <p:nvSpPr>
            <p:cNvPr id="20" name="object 20"/>
            <p:cNvSpPr/>
            <p:nvPr/>
          </p:nvSpPr>
          <p:spPr>
            <a:xfrm>
              <a:off x="7315200" y="1636183"/>
              <a:ext cx="2849245" cy="0"/>
            </a:xfrm>
            <a:custGeom>
              <a:avLst/>
              <a:gdLst/>
              <a:ahLst/>
              <a:cxnLst/>
              <a:rect l="l" t="t" r="r" b="b"/>
              <a:pathLst>
                <a:path w="2849245">
                  <a:moveTo>
                    <a:pt x="0" y="0"/>
                  </a:moveTo>
                  <a:lnTo>
                    <a:pt x="2849033" y="0"/>
                  </a:lnTo>
                </a:path>
              </a:pathLst>
            </a:custGeom>
            <a:ln w="29633">
              <a:solidFill>
                <a:srgbClr val="5B74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53300" y="1610783"/>
              <a:ext cx="2785745" cy="0"/>
            </a:xfrm>
            <a:custGeom>
              <a:avLst/>
              <a:gdLst/>
              <a:ahLst/>
              <a:cxnLst/>
              <a:rect l="l" t="t" r="r" b="b"/>
              <a:pathLst>
                <a:path w="2785745">
                  <a:moveTo>
                    <a:pt x="0" y="0"/>
                  </a:moveTo>
                  <a:lnTo>
                    <a:pt x="2785533" y="0"/>
                  </a:lnTo>
                </a:path>
              </a:pathLst>
            </a:custGeom>
            <a:ln w="29633">
              <a:solidFill>
                <a:srgbClr val="5B74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10200216" y="28829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4233">
            <a:solidFill>
              <a:srgbClr val="2F5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200216" y="1684867"/>
            <a:ext cx="0" cy="1134745"/>
          </a:xfrm>
          <a:custGeom>
            <a:avLst/>
            <a:gdLst/>
            <a:ahLst/>
            <a:cxnLst/>
            <a:rect l="l" t="t" r="r" b="b"/>
            <a:pathLst>
              <a:path h="1134745">
                <a:moveTo>
                  <a:pt x="0" y="0"/>
                </a:moveTo>
                <a:lnTo>
                  <a:pt x="0" y="1134532"/>
                </a:lnTo>
              </a:path>
            </a:pathLst>
          </a:custGeom>
          <a:ln w="4233">
            <a:solidFill>
              <a:srgbClr val="2F5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210800" y="2893483"/>
            <a:ext cx="3433445" cy="0"/>
          </a:xfrm>
          <a:custGeom>
            <a:avLst/>
            <a:gdLst/>
            <a:ahLst/>
            <a:cxnLst/>
            <a:rect l="l" t="t" r="r" b="b"/>
            <a:pathLst>
              <a:path w="3433444">
                <a:moveTo>
                  <a:pt x="0" y="0"/>
                </a:moveTo>
                <a:lnTo>
                  <a:pt x="3433233" y="0"/>
                </a:lnTo>
              </a:path>
            </a:pathLst>
          </a:custGeom>
          <a:ln w="4233">
            <a:solidFill>
              <a:srgbClr val="2F5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748616" y="2800138"/>
            <a:ext cx="3543300" cy="93345"/>
            <a:chOff x="10198100" y="2789767"/>
            <a:chExt cx="3543300" cy="93345"/>
          </a:xfrm>
        </p:grpSpPr>
        <p:sp>
          <p:nvSpPr>
            <p:cNvPr id="26" name="object 26"/>
            <p:cNvSpPr/>
            <p:nvPr/>
          </p:nvSpPr>
          <p:spPr>
            <a:xfrm>
              <a:off x="10210800" y="2791883"/>
              <a:ext cx="3471545" cy="0"/>
            </a:xfrm>
            <a:custGeom>
              <a:avLst/>
              <a:gdLst/>
              <a:ahLst/>
              <a:cxnLst/>
              <a:rect l="l" t="t" r="r" b="b"/>
              <a:pathLst>
                <a:path w="3471544">
                  <a:moveTo>
                    <a:pt x="0" y="0"/>
                  </a:moveTo>
                  <a:lnTo>
                    <a:pt x="3471333" y="0"/>
                  </a:lnTo>
                </a:path>
              </a:pathLst>
            </a:custGeom>
            <a:ln w="4233">
              <a:solidFill>
                <a:srgbClr val="2F5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198100" y="2851150"/>
              <a:ext cx="3543300" cy="0"/>
            </a:xfrm>
            <a:custGeom>
              <a:avLst/>
              <a:gdLst/>
              <a:ahLst/>
              <a:cxnLst/>
              <a:rect l="l" t="t" r="r" b="b"/>
              <a:pathLst>
                <a:path w="3543300">
                  <a:moveTo>
                    <a:pt x="0" y="0"/>
                  </a:moveTo>
                  <a:lnTo>
                    <a:pt x="3543300" y="0"/>
                  </a:lnTo>
                </a:path>
              </a:pathLst>
            </a:custGeom>
            <a:ln w="63500">
              <a:solidFill>
                <a:srgbClr val="034F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98100" y="4064000"/>
            <a:ext cx="38100" cy="69850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28700" y="4064000"/>
            <a:ext cx="12700" cy="698500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833053" y="366536"/>
            <a:ext cx="15742285" cy="904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750" dirty="0">
                <a:solidFill>
                  <a:srgbClr val="0E1C36"/>
                </a:solidFill>
              </a:rPr>
              <a:t>Building</a:t>
            </a:r>
            <a:r>
              <a:rPr sz="5750" spc="340" dirty="0">
                <a:solidFill>
                  <a:srgbClr val="0E1C36"/>
                </a:solidFill>
              </a:rPr>
              <a:t> </a:t>
            </a:r>
            <a:r>
              <a:rPr sz="5750" spc="140" dirty="0">
                <a:solidFill>
                  <a:srgbClr val="112346"/>
                </a:solidFill>
              </a:rPr>
              <a:t>a</a:t>
            </a:r>
            <a:r>
              <a:rPr sz="5750" spc="-25" dirty="0">
                <a:solidFill>
                  <a:srgbClr val="112346"/>
                </a:solidFill>
              </a:rPr>
              <a:t> </a:t>
            </a:r>
            <a:r>
              <a:rPr sz="5750" dirty="0">
                <a:solidFill>
                  <a:srgbClr val="112341"/>
                </a:solidFill>
              </a:rPr>
              <a:t>Foundation</a:t>
            </a:r>
            <a:r>
              <a:rPr sz="5750" spc="509" dirty="0">
                <a:solidFill>
                  <a:srgbClr val="112341"/>
                </a:solidFill>
              </a:rPr>
              <a:t> </a:t>
            </a:r>
            <a:r>
              <a:rPr sz="5750" dirty="0">
                <a:solidFill>
                  <a:srgbClr val="0E1D3F"/>
                </a:solidFill>
              </a:rPr>
              <a:t>of</a:t>
            </a:r>
            <a:r>
              <a:rPr sz="5750" spc="220" dirty="0">
                <a:solidFill>
                  <a:srgbClr val="0E1D3F"/>
                </a:solidFill>
              </a:rPr>
              <a:t> </a:t>
            </a:r>
            <a:r>
              <a:rPr sz="5750" dirty="0">
                <a:solidFill>
                  <a:srgbClr val="0E1C3A"/>
                </a:solidFill>
              </a:rPr>
              <a:t>Trust:</a:t>
            </a:r>
            <a:r>
              <a:rPr sz="5750" spc="-105" dirty="0">
                <a:solidFill>
                  <a:srgbClr val="0E1C3A"/>
                </a:solidFill>
              </a:rPr>
              <a:t> </a:t>
            </a:r>
            <a:r>
              <a:rPr sz="5750" spc="180" dirty="0">
                <a:solidFill>
                  <a:srgbClr val="0F1F3D"/>
                </a:solidFill>
              </a:rPr>
              <a:t>Our</a:t>
            </a:r>
            <a:r>
              <a:rPr sz="5750" spc="70" dirty="0">
                <a:solidFill>
                  <a:srgbClr val="0F1F3D"/>
                </a:solidFill>
              </a:rPr>
              <a:t> </a:t>
            </a:r>
            <a:r>
              <a:rPr sz="5750" spc="80" dirty="0">
                <a:solidFill>
                  <a:srgbClr val="0F1D3B"/>
                </a:solidFill>
              </a:rPr>
              <a:t>Data</a:t>
            </a:r>
            <a:r>
              <a:rPr sz="5750" spc="125" dirty="0">
                <a:solidFill>
                  <a:srgbClr val="0F1D3B"/>
                </a:solidFill>
              </a:rPr>
              <a:t> </a:t>
            </a:r>
            <a:r>
              <a:rPr sz="5750" spc="-10" dirty="0">
                <a:solidFill>
                  <a:srgbClr val="0F213F"/>
                </a:solidFill>
              </a:rPr>
              <a:t>Pipeline</a:t>
            </a:r>
            <a:endParaRPr sz="5750" dirty="0"/>
          </a:p>
        </p:txBody>
      </p:sp>
      <p:sp>
        <p:nvSpPr>
          <p:cNvPr id="31" name="object 31"/>
          <p:cNvSpPr txBox="1"/>
          <p:nvPr/>
        </p:nvSpPr>
        <p:spPr>
          <a:xfrm>
            <a:off x="755650" y="1686983"/>
            <a:ext cx="2942590" cy="3193182"/>
          </a:xfrm>
          <a:prstGeom prst="rect">
            <a:avLst/>
          </a:prstGeom>
          <a:ln w="21166">
            <a:solidFill>
              <a:srgbClr val="576B7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19050" algn="ctr">
              <a:lnSpc>
                <a:spcPts val="3190"/>
              </a:lnSpc>
            </a:pPr>
            <a:r>
              <a:rPr sz="2750" spc="-225" dirty="0">
                <a:latin typeface="Cambria"/>
                <a:cs typeface="Cambria"/>
              </a:rPr>
              <a:t>IPEDS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-175" dirty="0">
                <a:latin typeface="Cambria"/>
                <a:cs typeface="Cambria"/>
              </a:rPr>
              <a:t>2022-</a:t>
            </a:r>
            <a:r>
              <a:rPr sz="2750" spc="-25" dirty="0">
                <a:latin typeface="Cambria"/>
                <a:cs typeface="Cambria"/>
              </a:rPr>
              <a:t>23</a:t>
            </a:r>
            <a:endParaRPr sz="2750" dirty="0">
              <a:latin typeface="Cambria"/>
              <a:cs typeface="Cambria"/>
            </a:endParaRPr>
          </a:p>
          <a:p>
            <a:pPr marL="34290" algn="ctr">
              <a:lnSpc>
                <a:spcPts val="3190"/>
              </a:lnSpc>
            </a:pPr>
            <a:r>
              <a:rPr sz="2750" spc="-35" dirty="0">
                <a:latin typeface="Cambria"/>
                <a:cs typeface="Cambria"/>
              </a:rPr>
              <a:t>Access</a:t>
            </a:r>
            <a:r>
              <a:rPr sz="2750" spc="-125" dirty="0">
                <a:latin typeface="Cambria"/>
                <a:cs typeface="Cambria"/>
              </a:rPr>
              <a:t> </a:t>
            </a:r>
            <a:r>
              <a:rPr sz="2750" spc="-325" dirty="0">
                <a:latin typeface="Cambria"/>
                <a:cs typeface="Cambria"/>
              </a:rPr>
              <a:t>DB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88544" y="1849261"/>
            <a:ext cx="2376170" cy="78994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466725">
              <a:lnSpc>
                <a:spcPts val="2850"/>
              </a:lnSpc>
              <a:spcBef>
                <a:spcPts val="455"/>
              </a:spcBef>
            </a:pPr>
            <a:r>
              <a:rPr sz="2600" spc="-65" dirty="0">
                <a:latin typeface="Cambria"/>
                <a:cs typeface="Cambria"/>
              </a:rPr>
              <a:t>ETL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Script </a:t>
            </a:r>
            <a:r>
              <a:rPr sz="2600" spc="-55" dirty="0">
                <a:latin typeface="Cambria"/>
                <a:cs typeface="Cambria"/>
              </a:rPr>
              <a:t>(Python/Pandas)</a:t>
            </a:r>
            <a:endParaRPr sz="2600" dirty="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64399" y="3963811"/>
            <a:ext cx="2912745" cy="798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7485">
              <a:lnSpc>
                <a:spcPts val="2960"/>
              </a:lnSpc>
              <a:spcBef>
                <a:spcPts val="135"/>
              </a:spcBef>
              <a:tabLst>
                <a:tab pos="2139315" algn="l"/>
              </a:tabLst>
            </a:pPr>
            <a:r>
              <a:rPr sz="2600" dirty="0">
                <a:latin typeface="Cambria"/>
                <a:cs typeface="Cambria"/>
              </a:rPr>
              <a:t>8</a:t>
            </a:r>
            <a:r>
              <a:rPr sz="2600" spc="6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Normalized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0" dirty="0">
                <a:latin typeface="Cambria"/>
                <a:cs typeface="Cambria"/>
              </a:rPr>
              <a:t>CSV</a:t>
            </a:r>
            <a:endParaRPr sz="2600" dirty="0">
              <a:latin typeface="Cambria"/>
              <a:cs typeface="Cambria"/>
            </a:endParaRPr>
          </a:p>
          <a:p>
            <a:pPr marL="195580">
              <a:lnSpc>
                <a:spcPts val="3080"/>
              </a:lnSpc>
            </a:pPr>
            <a:r>
              <a:rPr sz="2700" spc="-85" dirty="0">
                <a:latin typeface="Cambria"/>
                <a:cs typeface="Cambria"/>
              </a:rPr>
              <a:t>Files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for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Efficiency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081953" y="1858080"/>
            <a:ext cx="1750060" cy="7842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2855"/>
              </a:lnSpc>
              <a:spcBef>
                <a:spcPts val="120"/>
              </a:spcBef>
            </a:pPr>
            <a:r>
              <a:rPr sz="2550" dirty="0">
                <a:latin typeface="Cambria"/>
                <a:cs typeface="Cambria"/>
              </a:rPr>
              <a:t>SQL</a:t>
            </a:r>
            <a:r>
              <a:rPr sz="2550" spc="320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Queries</a:t>
            </a:r>
            <a:endParaRPr sz="2550" dirty="0">
              <a:latin typeface="Cambria"/>
              <a:cs typeface="Cambria"/>
            </a:endParaRPr>
          </a:p>
          <a:p>
            <a:pPr marR="17780" algn="ctr">
              <a:lnSpc>
                <a:spcPts val="3095"/>
              </a:lnSpc>
            </a:pPr>
            <a:r>
              <a:rPr sz="2750" spc="-70" dirty="0">
                <a:latin typeface="Cambria"/>
                <a:cs typeface="Cambria"/>
              </a:rPr>
              <a:t>(DuckDB)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743513" y="1647825"/>
            <a:ext cx="2921000" cy="3584575"/>
          </a:xfrm>
          <a:prstGeom prst="rect">
            <a:avLst/>
          </a:prstGeom>
          <a:ln w="21166">
            <a:solidFill>
              <a:srgbClr val="576B7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40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942340" marR="184785" indent="-749300">
              <a:lnSpc>
                <a:spcPts val="2900"/>
              </a:lnSpc>
            </a:pPr>
            <a:r>
              <a:rPr sz="2750" spc="-60" dirty="0">
                <a:latin typeface="Cambria"/>
                <a:cs typeface="Cambria"/>
              </a:rPr>
              <a:t>Curated</a:t>
            </a:r>
            <a:r>
              <a:rPr sz="2750" spc="10" dirty="0">
                <a:latin typeface="Cambria"/>
                <a:cs typeface="Cambria"/>
              </a:rPr>
              <a:t> </a:t>
            </a:r>
            <a:r>
              <a:rPr sz="2750" spc="-140" dirty="0">
                <a:latin typeface="Cambria"/>
                <a:cs typeface="Cambria"/>
              </a:rPr>
              <a:t>Analytical </a:t>
            </a:r>
            <a:r>
              <a:rPr sz="2750" spc="-10" dirty="0">
                <a:latin typeface="Cambria"/>
                <a:cs typeface="Cambria"/>
              </a:rPr>
              <a:t>Dataset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0687" y="4817026"/>
            <a:ext cx="7689215" cy="1851533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400" dirty="0">
                <a:latin typeface="Arial MT"/>
              </a:rPr>
              <a:t>A Rigorous 8-File ETL Pipeline:</a:t>
            </a:r>
          </a:p>
          <a:p>
            <a:pPr marL="26034" marR="5080" indent="-3810">
              <a:lnSpc>
                <a:spcPct val="94600"/>
              </a:lnSpc>
              <a:spcBef>
                <a:spcPts val="1540"/>
              </a:spcBef>
              <a:tabLst>
                <a:tab pos="4760595" algn="l"/>
                <a:tab pos="5871845" algn="l"/>
              </a:tabLst>
            </a:pPr>
            <a:r>
              <a:rPr sz="2400" dirty="0">
                <a:latin typeface="Arial MT"/>
              </a:rPr>
              <a:t>We merged eight distinct data files from the official IPEDS 2022-23 dataset, using the unique	UNITID	to create a 360-degree view of each institution.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8939634" y="5574846"/>
            <a:ext cx="8421370" cy="3803349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850"/>
              </a:spcBef>
            </a:pPr>
            <a:r>
              <a:rPr sz="3200" dirty="0">
                <a:solidFill>
                  <a:srgbClr val="0F1C3A"/>
                </a:solidFill>
                <a:latin typeface="Cambria"/>
                <a:cs typeface="Cambria"/>
              </a:rPr>
              <a:t>Architectural</a:t>
            </a:r>
            <a:r>
              <a:rPr sz="3200" spc="415" dirty="0">
                <a:solidFill>
                  <a:srgbClr val="0F1C3A"/>
                </a:solidFill>
                <a:latin typeface="Cambria"/>
                <a:cs typeface="Cambria"/>
              </a:rPr>
              <a:t> </a:t>
            </a:r>
            <a:r>
              <a:rPr sz="3200" spc="55" dirty="0">
                <a:solidFill>
                  <a:srgbClr val="1C1C1C"/>
                </a:solidFill>
                <a:latin typeface="Cambria"/>
                <a:cs typeface="Cambria"/>
              </a:rPr>
              <a:t>Justification:</a:t>
            </a:r>
            <a:r>
              <a:rPr sz="3200" spc="-55" dirty="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A1A38"/>
                </a:solidFill>
                <a:latin typeface="Cambria"/>
                <a:cs typeface="Cambria"/>
              </a:rPr>
              <a:t>Why</a:t>
            </a:r>
            <a:r>
              <a:rPr sz="3200" spc="125" dirty="0">
                <a:solidFill>
                  <a:srgbClr val="0A1A38"/>
                </a:solidFill>
                <a:latin typeface="Cambria"/>
                <a:cs typeface="Cambria"/>
              </a:rPr>
              <a:t> </a:t>
            </a:r>
            <a:r>
              <a:rPr sz="3200" spc="150" dirty="0">
                <a:solidFill>
                  <a:srgbClr val="232323"/>
                </a:solidFill>
                <a:latin typeface="Cambria"/>
                <a:cs typeface="Cambria"/>
              </a:rPr>
              <a:t>CSV?</a:t>
            </a:r>
            <a:endParaRPr sz="3200" dirty="0">
              <a:latin typeface="Cambria"/>
              <a:cs typeface="Cambria"/>
            </a:endParaRPr>
          </a:p>
          <a:p>
            <a:pPr marL="485140" marR="536575" indent="-234315">
              <a:lnSpc>
                <a:spcPct val="94600"/>
              </a:lnSpc>
              <a:spcBef>
                <a:spcPts val="1540"/>
              </a:spcBef>
              <a:buChar char="•"/>
              <a:tabLst>
                <a:tab pos="485140" algn="l"/>
              </a:tabLst>
            </a:pPr>
            <a:r>
              <a:rPr sz="2400" dirty="0">
                <a:latin typeface="Arial MT"/>
                <a:cs typeface="Arial MT"/>
              </a:rPr>
              <a:t>Performance: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staging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layer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CSV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allows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</a:t>
            </a:r>
            <a:r>
              <a:rPr sz="2400" dirty="0">
                <a:latin typeface="Arial MT"/>
                <a:cs typeface="Arial MT"/>
              </a:rPr>
              <a:t>significantly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faster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in-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10" dirty="0">
                <a:latin typeface="Arial MT"/>
                <a:cs typeface="Arial MT"/>
              </a:rPr>
              <a:t> processing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with </a:t>
            </a:r>
            <a:r>
              <a:rPr sz="2400" spc="-35" dirty="0">
                <a:latin typeface="Arial MT"/>
                <a:cs typeface="Arial MT"/>
              </a:rPr>
              <a:t>Python/Pandas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compared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repeated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database</a:t>
            </a:r>
            <a:endParaRPr sz="2400" baseline="-28368" dirty="0">
              <a:latin typeface="Arial MT"/>
              <a:cs typeface="Arial MT"/>
            </a:endParaRPr>
          </a:p>
          <a:p>
            <a:pPr marL="485140" marR="491490" indent="-233679">
              <a:lnSpc>
                <a:spcPct val="95600"/>
              </a:lnSpc>
              <a:spcBef>
                <a:spcPts val="1200"/>
              </a:spcBef>
              <a:buChar char="•"/>
              <a:tabLst>
                <a:tab pos="485140" algn="l"/>
              </a:tabLst>
            </a:pPr>
            <a:r>
              <a:rPr sz="2400" spc="55" dirty="0">
                <a:latin typeface="Arial MT"/>
                <a:cs typeface="Arial MT"/>
              </a:rPr>
              <a:t>Portability: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modern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approach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ensures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our </a:t>
            </a:r>
            <a:r>
              <a:rPr sz="2400" spc="-10" dirty="0">
                <a:latin typeface="Arial MT"/>
                <a:cs typeface="Arial MT"/>
              </a:rPr>
              <a:t>analytical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dataset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easily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portable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and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compatible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with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wide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tools,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including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our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fast,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serverless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SQL </a:t>
            </a:r>
            <a:r>
              <a:rPr sz="2400" dirty="0">
                <a:latin typeface="Arial MT"/>
                <a:cs typeface="Arial MT"/>
              </a:rPr>
              <a:t>engine,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DuckDB.</a:t>
            </a:r>
            <a:endParaRPr sz="2400" dirty="0">
              <a:latin typeface="Arial MT"/>
              <a:cs typeface="Arial MT"/>
            </a:endParaRPr>
          </a:p>
          <a:p>
            <a:pPr marR="30480" algn="r">
              <a:lnSpc>
                <a:spcPct val="100000"/>
              </a:lnSpc>
              <a:spcBef>
                <a:spcPts val="229"/>
              </a:spcBef>
              <a:tabLst>
                <a:tab pos="703580" algn="l"/>
              </a:tabLst>
            </a:pPr>
            <a:r>
              <a:rPr sz="1500" dirty="0">
                <a:latin typeface="Cambria"/>
                <a:cs typeface="Cambria"/>
              </a:rPr>
              <a:t>	</a:t>
            </a:r>
          </a:p>
        </p:txBody>
      </p:sp>
      <p:grpSp>
        <p:nvGrpSpPr>
          <p:cNvPr id="41" name="object 25">
            <a:extLst>
              <a:ext uri="{FF2B5EF4-FFF2-40B4-BE49-F238E27FC236}">
                <a16:creationId xmlns:a16="http://schemas.microsoft.com/office/drawing/2014/main" id="{0BBAAB8E-C900-912F-B0D2-9BD467DB09FD}"/>
              </a:ext>
            </a:extLst>
          </p:cNvPr>
          <p:cNvGrpSpPr/>
          <p:nvPr/>
        </p:nvGrpSpPr>
        <p:grpSpPr>
          <a:xfrm>
            <a:off x="10164445" y="2787227"/>
            <a:ext cx="3543300" cy="93345"/>
            <a:chOff x="10198100" y="2789767"/>
            <a:chExt cx="3543300" cy="93345"/>
          </a:xfrm>
        </p:grpSpPr>
        <p:sp>
          <p:nvSpPr>
            <p:cNvPr id="42" name="object 26">
              <a:extLst>
                <a:ext uri="{FF2B5EF4-FFF2-40B4-BE49-F238E27FC236}">
                  <a16:creationId xmlns:a16="http://schemas.microsoft.com/office/drawing/2014/main" id="{CAA22319-41CC-ACB3-FCC8-DA92ABDD2A48}"/>
                </a:ext>
              </a:extLst>
            </p:cNvPr>
            <p:cNvSpPr/>
            <p:nvPr/>
          </p:nvSpPr>
          <p:spPr>
            <a:xfrm>
              <a:off x="10210800" y="2791883"/>
              <a:ext cx="3471545" cy="0"/>
            </a:xfrm>
            <a:custGeom>
              <a:avLst/>
              <a:gdLst/>
              <a:ahLst/>
              <a:cxnLst/>
              <a:rect l="l" t="t" r="r" b="b"/>
              <a:pathLst>
                <a:path w="3471544">
                  <a:moveTo>
                    <a:pt x="0" y="0"/>
                  </a:moveTo>
                  <a:lnTo>
                    <a:pt x="3471333" y="0"/>
                  </a:lnTo>
                </a:path>
              </a:pathLst>
            </a:custGeom>
            <a:ln w="4233">
              <a:solidFill>
                <a:srgbClr val="2F5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27">
              <a:extLst>
                <a:ext uri="{FF2B5EF4-FFF2-40B4-BE49-F238E27FC236}">
                  <a16:creationId xmlns:a16="http://schemas.microsoft.com/office/drawing/2014/main" id="{F23EF01A-5615-549D-7E25-6602BA3F1B4E}"/>
                </a:ext>
              </a:extLst>
            </p:cNvPr>
            <p:cNvSpPr/>
            <p:nvPr/>
          </p:nvSpPr>
          <p:spPr>
            <a:xfrm>
              <a:off x="10198100" y="2851150"/>
              <a:ext cx="3543300" cy="0"/>
            </a:xfrm>
            <a:custGeom>
              <a:avLst/>
              <a:gdLst/>
              <a:ahLst/>
              <a:cxnLst/>
              <a:rect l="l" t="t" r="r" b="b"/>
              <a:pathLst>
                <a:path w="3543300">
                  <a:moveTo>
                    <a:pt x="0" y="0"/>
                  </a:moveTo>
                  <a:lnTo>
                    <a:pt x="3543300" y="0"/>
                  </a:lnTo>
                </a:path>
              </a:pathLst>
            </a:custGeom>
            <a:ln w="63500">
              <a:solidFill>
                <a:srgbClr val="034F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1D327DBB-A1A1-57A0-654B-80DE7370B7DE}"/>
              </a:ext>
            </a:extLst>
          </p:cNvPr>
          <p:cNvSpPr txBox="1"/>
          <p:nvPr/>
        </p:nvSpPr>
        <p:spPr>
          <a:xfrm>
            <a:off x="660400" y="6668559"/>
            <a:ext cx="768921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MT"/>
              </a:rPr>
              <a:t>Files Merged:</a:t>
            </a:r>
            <a:r>
              <a:rPr lang="en-US" sz="2000" dirty="0">
                <a:latin typeface="Arial MT"/>
              </a:rPr>
              <a:t>	</a:t>
            </a:r>
          </a:p>
          <a:p>
            <a:r>
              <a:rPr lang="en-IN" sz="2000" b="1" dirty="0"/>
              <a:t>HD2022</a:t>
            </a:r>
            <a:r>
              <a:rPr lang="en-IN" sz="2000" dirty="0"/>
              <a:t> – college directory (names, type) — to identify each school </a:t>
            </a:r>
          </a:p>
          <a:p>
            <a:r>
              <a:rPr lang="en-IN" sz="2000" b="1" dirty="0"/>
              <a:t>SFA2122_P1</a:t>
            </a:r>
            <a:r>
              <a:rPr lang="en-IN" sz="2000" dirty="0"/>
              <a:t> – grant aid amounts — gives merit aid $ (IGRNT_A) </a:t>
            </a:r>
            <a:r>
              <a:rPr lang="en-IN" sz="2000" b="1" dirty="0"/>
              <a:t>SFA2122_P2</a:t>
            </a:r>
            <a:r>
              <a:rPr lang="en-IN" sz="2000" dirty="0"/>
              <a:t> – net price — what families actually pay (NPT442) </a:t>
            </a:r>
            <a:r>
              <a:rPr lang="en-IN" sz="2000" b="1" dirty="0"/>
              <a:t>IC2022_AY</a:t>
            </a:r>
            <a:r>
              <a:rPr lang="en-IN" sz="2000" dirty="0"/>
              <a:t> – sticker price (TUITION2) — for comparison </a:t>
            </a:r>
            <a:r>
              <a:rPr lang="en-IN" sz="2000" b="1" dirty="0"/>
              <a:t>ADM2022</a:t>
            </a:r>
            <a:r>
              <a:rPr lang="en-IN" sz="2000" dirty="0"/>
              <a:t> – SAT scores — academic quality signal </a:t>
            </a:r>
            <a:r>
              <a:rPr lang="en-IN" sz="2000" b="1" dirty="0"/>
              <a:t>DRVADM2022</a:t>
            </a:r>
            <a:r>
              <a:rPr lang="en-IN" sz="2000" dirty="0"/>
              <a:t> – admissions rate — selectivity </a:t>
            </a:r>
          </a:p>
          <a:p>
            <a:r>
              <a:rPr lang="en-IN" sz="2000" b="1" dirty="0"/>
              <a:t>DRVGR2022</a:t>
            </a:r>
            <a:r>
              <a:rPr lang="en-IN" sz="2000" dirty="0"/>
              <a:t> – graduation rate — quality/outcome check </a:t>
            </a:r>
            <a:r>
              <a:rPr lang="en-IN" sz="2000" b="1" dirty="0"/>
              <a:t>IC2022Mission</a:t>
            </a:r>
            <a:r>
              <a:rPr lang="en-IN" sz="2000" dirty="0"/>
              <a:t> – mission statements — for the AI context tool</a:t>
            </a:r>
            <a:endParaRPr lang="en-IN" sz="2000" dirty="0">
              <a:latin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0700" y="4903223"/>
            <a:ext cx="3733800" cy="76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1225" y="589138"/>
            <a:ext cx="15652115" cy="766444"/>
          </a:xfrm>
        </p:spPr>
        <p:txBody>
          <a:bodyPr vert="horz" wrap="square" lIns="0" tIns="17145" rIns="0" bIns="0" rtlCol="0">
            <a:spAutoFit/>
          </a:bodyPr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A  New Lens on Value: The Merit Generosity Index (MGI)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4656" y="1806467"/>
            <a:ext cx="8433435" cy="168315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ts val="3610"/>
              </a:lnSpc>
              <a:spcBef>
                <a:spcPts val="125"/>
              </a:spcBef>
            </a:pPr>
            <a:r>
              <a:rPr sz="2400" dirty="0">
                <a:latin typeface="Arial MT"/>
              </a:rPr>
              <a:t>The Problem with Standard Metrics:</a:t>
            </a:r>
          </a:p>
          <a:p>
            <a:pPr marL="13970" marR="5080" indent="-1905">
              <a:lnSpc>
                <a:spcPts val="3000"/>
              </a:lnSpc>
              <a:spcBef>
                <a:spcPts val="390"/>
              </a:spcBef>
            </a:pPr>
            <a:r>
              <a:rPr sz="2400" dirty="0">
                <a:latin typeface="Arial MT"/>
              </a:rPr>
              <a:t>Most public data focuses on need-based aid, obscuring an institution's strategic commitment to attracting students based on academic merit.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7715" y="4101568"/>
            <a:ext cx="5264785" cy="66524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lvl="2">
              <a:lnSpc>
                <a:spcPts val="5875"/>
              </a:lnSpc>
              <a:spcBef>
                <a:spcPts val="125"/>
              </a:spcBef>
            </a:pPr>
            <a:r>
              <a:rPr sz="2400" dirty="0">
                <a:latin typeface="Arial MT"/>
              </a:rPr>
              <a:t>Merit Generosity</a:t>
            </a:r>
            <a:r>
              <a:rPr lang="en-IN" sz="2400" dirty="0">
                <a:latin typeface="Arial MT"/>
              </a:rPr>
              <a:t> </a:t>
            </a:r>
            <a:r>
              <a:rPr sz="2400" dirty="0">
                <a:latin typeface="Arial MT"/>
              </a:rPr>
              <a:t>Index (MGI)</a:t>
            </a:r>
            <a:r>
              <a:rPr lang="en-IN" sz="2400" dirty="0">
                <a:latin typeface="Arial MT"/>
              </a:rPr>
              <a:t>                     </a:t>
            </a:r>
            <a:endParaRPr sz="2400" dirty="0">
              <a:latin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4563" y="6425754"/>
            <a:ext cx="15986760" cy="2035172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2400" dirty="0">
                <a:latin typeface="Arial MT"/>
              </a:rPr>
              <a:t>How the MGI Works:</a:t>
            </a:r>
          </a:p>
          <a:p>
            <a:pPr marL="378460" indent="-353060">
              <a:lnSpc>
                <a:spcPts val="3120"/>
              </a:lnSpc>
              <a:spcBef>
                <a:spcPts val="190"/>
              </a:spcBef>
              <a:buChar char="•"/>
              <a:tabLst>
                <a:tab pos="378460" algn="l"/>
              </a:tabLst>
            </a:pPr>
            <a:r>
              <a:rPr sz="2400" dirty="0">
                <a:latin typeface="Arial MT"/>
              </a:rPr>
              <a:t>This custom ratio normalizes a college's generosity against its cost, allowing for fair comparison. A school with a</a:t>
            </a:r>
          </a:p>
          <a:p>
            <a:pPr marL="374015">
              <a:lnSpc>
                <a:spcPts val="3050"/>
              </a:lnSpc>
            </a:pPr>
            <a:r>
              <a:rPr sz="2400" dirty="0">
                <a:latin typeface="Arial MT"/>
              </a:rPr>
              <a:t>$60k sticker price giving a $30k grant (MGI = 0.5) is more generous than a $20k school giving a $5k grant (MGI</a:t>
            </a:r>
          </a:p>
          <a:p>
            <a:pPr marL="379730">
              <a:lnSpc>
                <a:spcPts val="3170"/>
              </a:lnSpc>
            </a:pPr>
            <a:r>
              <a:rPr sz="2400" dirty="0">
                <a:latin typeface="Arial MT"/>
              </a:rPr>
              <a:t>= 0.25).</a:t>
            </a:r>
          </a:p>
          <a:p>
            <a:pPr marL="386715" indent="-363220">
              <a:lnSpc>
                <a:spcPct val="100000"/>
              </a:lnSpc>
              <a:spcBef>
                <a:spcPts val="160"/>
              </a:spcBef>
              <a:buChar char="•"/>
              <a:tabLst>
                <a:tab pos="386715" algn="l"/>
              </a:tabLst>
            </a:pPr>
            <a:r>
              <a:rPr sz="2400" dirty="0">
                <a:latin typeface="Arial MT"/>
              </a:rPr>
              <a:t>A higher MGI signals a stronger institutional commitment to making </a:t>
            </a:r>
            <a:r>
              <a:rPr lang="en-IN" sz="2400" dirty="0">
                <a:latin typeface="Arial MT"/>
              </a:rPr>
              <a:t>college </a:t>
            </a:r>
            <a:r>
              <a:rPr sz="2400" dirty="0">
                <a:latin typeface="Arial MT"/>
              </a:rPr>
              <a:t>affordable.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70858" y="3921455"/>
            <a:ext cx="3128645" cy="14881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17500" marR="287020" indent="-22225" algn="ctr">
              <a:lnSpc>
                <a:spcPct val="84900"/>
              </a:lnSpc>
              <a:spcBef>
                <a:spcPts val="780"/>
              </a:spcBef>
            </a:pPr>
            <a:r>
              <a:rPr sz="2400" dirty="0">
                <a:latin typeface="Arial MT"/>
              </a:rPr>
              <a:t>Average Institutional Grant Aid</a:t>
            </a: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2400" dirty="0">
                <a:latin typeface="Arial MT"/>
              </a:rPr>
              <a:t>Sticker Price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247726" y="2526033"/>
            <a:ext cx="5941695" cy="3598934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1435" indent="3810">
              <a:lnSpc>
                <a:spcPts val="3200"/>
              </a:lnSpc>
              <a:spcBef>
                <a:spcPts val="245"/>
              </a:spcBef>
              <a:tabLst>
                <a:tab pos="4077970" algn="l"/>
              </a:tabLst>
            </a:pPr>
            <a:r>
              <a:rPr sz="2400" dirty="0">
                <a:latin typeface="Arial MT"/>
              </a:rPr>
              <a:t>Justification for ’IGRNT</a:t>
            </a:r>
            <a:r>
              <a:rPr lang="en-IN" sz="2400" dirty="0">
                <a:latin typeface="Arial MT"/>
              </a:rPr>
              <a:t> </a:t>
            </a:r>
            <a:r>
              <a:rPr sz="2400" dirty="0">
                <a:latin typeface="Arial MT"/>
              </a:rPr>
              <a:t>as the Merit Proxy:</a:t>
            </a:r>
          </a:p>
          <a:p>
            <a:pPr marL="526415" marR="5080" indent="-315595">
              <a:lnSpc>
                <a:spcPct val="93900"/>
              </a:lnSpc>
              <a:spcBef>
                <a:spcPts val="400"/>
              </a:spcBef>
              <a:buChar char="•"/>
              <a:tabLst>
                <a:tab pos="526415" algn="l"/>
                <a:tab pos="539115" algn="l"/>
              </a:tabLst>
            </a:pPr>
            <a:r>
              <a:rPr sz="2400" dirty="0">
                <a:latin typeface="Arial MT"/>
              </a:rPr>
              <a:t>	The IPEDS variable ’IGRNT_A’ (Average Institutional Grant Amount) represents discretionary funds the college awards, independent of federal need-based aid formulas.</a:t>
            </a:r>
          </a:p>
          <a:p>
            <a:pPr marL="520700" marR="34290" indent="-313690">
              <a:lnSpc>
                <a:spcPct val="90800"/>
              </a:lnSpc>
              <a:spcBef>
                <a:spcPts val="160"/>
              </a:spcBef>
              <a:buChar char="•"/>
              <a:tabLst>
                <a:tab pos="536575" algn="l"/>
              </a:tabLst>
            </a:pPr>
            <a:r>
              <a:rPr sz="2400" dirty="0">
                <a:latin typeface="Arial MT"/>
              </a:rPr>
              <a:t>It is the purest available signal of a 	college's strategic decision to attract 	high-achieving students, making it the 	ideal proxy for this project's mission.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9E84E9-82EB-1FEA-C429-07D7EFBFC5E6}"/>
              </a:ext>
            </a:extLst>
          </p:cNvPr>
          <p:cNvSpPr txBox="1"/>
          <p:nvPr/>
        </p:nvSpPr>
        <p:spPr>
          <a:xfrm>
            <a:off x="5982941" y="4325500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 MT"/>
              </a:rPr>
              <a:t>=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2300" y="1866900"/>
            <a:ext cx="12153900" cy="441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4200" y="6426200"/>
            <a:ext cx="101600" cy="152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39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3550" b="1" spc="-35" dirty="0">
                <a:solidFill>
                  <a:srgbClr val="1A1A1A"/>
                </a:solidFill>
                <a:latin typeface="Times New Roman"/>
                <a:cs typeface="Times New Roman"/>
              </a:rPr>
              <a:t>The</a:t>
            </a:r>
            <a:r>
              <a:rPr sz="3550" b="1" spc="-20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3550" b="1" spc="-20" dirty="0">
                <a:solidFill>
                  <a:srgbClr val="1A1A1A"/>
                </a:solidFill>
                <a:latin typeface="Times New Roman"/>
                <a:cs typeface="Times New Roman"/>
              </a:rPr>
              <a:t>Discount</a:t>
            </a:r>
            <a:r>
              <a:rPr sz="3550" b="1" spc="-20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3550" b="1" spc="-310" dirty="0">
                <a:solidFill>
                  <a:srgbClr val="212121"/>
                </a:solidFill>
                <a:latin typeface="Times New Roman"/>
                <a:cs typeface="Times New Roman"/>
              </a:rPr>
              <a:t>Gap:</a:t>
            </a:r>
            <a:r>
              <a:rPr sz="3550" b="1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3550" b="1" spc="-45" dirty="0">
                <a:solidFill>
                  <a:srgbClr val="1D1D1D"/>
                </a:solidFill>
                <a:latin typeface="Times New Roman"/>
                <a:cs typeface="Times New Roman"/>
              </a:rPr>
              <a:t>Visualizing</a:t>
            </a:r>
            <a:r>
              <a:rPr sz="3550" b="1" spc="-180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3550" b="1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3550" b="1" spc="-3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3550" b="1" spc="-30" dirty="0">
                <a:solidFill>
                  <a:srgbClr val="1C1C1C"/>
                </a:solidFill>
                <a:latin typeface="Times New Roman"/>
                <a:cs typeface="Times New Roman"/>
              </a:rPr>
              <a:t>Difference</a:t>
            </a:r>
            <a:r>
              <a:rPr sz="3550" b="1" spc="135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3550" b="1" spc="-10" dirty="0">
                <a:solidFill>
                  <a:srgbClr val="1D1D1D"/>
                </a:solidFill>
                <a:latin typeface="Times New Roman"/>
                <a:cs typeface="Times New Roman"/>
              </a:rPr>
              <a:t>Between</a:t>
            </a:r>
            <a:r>
              <a:rPr sz="3550" b="1" spc="-120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3550" b="1" spc="-20" dirty="0">
                <a:solidFill>
                  <a:srgbClr val="1F1F1F"/>
                </a:solidFill>
                <a:latin typeface="Times New Roman"/>
                <a:cs typeface="Times New Roman"/>
              </a:rPr>
              <a:t>Sticker</a:t>
            </a:r>
            <a:r>
              <a:rPr sz="3550" b="1" spc="3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3550" b="1" spc="-55" dirty="0">
                <a:solidFill>
                  <a:srgbClr val="1F1F1F"/>
                </a:solidFill>
                <a:latin typeface="Times New Roman"/>
                <a:cs typeface="Times New Roman"/>
              </a:rPr>
              <a:t>Price</a:t>
            </a:r>
            <a:r>
              <a:rPr sz="3550" b="1" spc="-15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3550" b="1" spc="-60" dirty="0">
                <a:solidFill>
                  <a:srgbClr val="15213B"/>
                </a:solidFill>
                <a:latin typeface="Times New Roman"/>
                <a:cs typeface="Times New Roman"/>
              </a:rPr>
              <a:t>and</a:t>
            </a:r>
            <a:r>
              <a:rPr sz="3550" b="1" spc="-145" dirty="0">
                <a:solidFill>
                  <a:srgbClr val="15213B"/>
                </a:solidFill>
                <a:latin typeface="Times New Roman"/>
                <a:cs typeface="Times New Roman"/>
              </a:rPr>
              <a:t> </a:t>
            </a:r>
            <a:r>
              <a:rPr sz="3550" b="1" spc="-265" dirty="0">
                <a:solidFill>
                  <a:srgbClr val="0F1F3A"/>
                </a:solidFill>
                <a:latin typeface="Times New Roman"/>
                <a:cs typeface="Times New Roman"/>
              </a:rPr>
              <a:t>Your</a:t>
            </a:r>
            <a:r>
              <a:rPr sz="3550" b="1" spc="40" dirty="0">
                <a:solidFill>
                  <a:srgbClr val="0F1F3A"/>
                </a:solidFill>
                <a:latin typeface="Times New Roman"/>
                <a:cs typeface="Times New Roman"/>
              </a:rPr>
              <a:t> </a:t>
            </a:r>
            <a:r>
              <a:rPr sz="3550" b="1" spc="-10" dirty="0">
                <a:solidFill>
                  <a:srgbClr val="13233D"/>
                </a:solidFill>
                <a:latin typeface="Times New Roman"/>
                <a:cs typeface="Times New Roman"/>
              </a:rPr>
              <a:t>Price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7681" y="2141361"/>
            <a:ext cx="3543935" cy="4084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0530" marR="22225" indent="1905" algn="r">
              <a:lnSpc>
                <a:spcPct val="148100"/>
              </a:lnSpc>
              <a:spcBef>
                <a:spcPts val="100"/>
              </a:spcBef>
            </a:pPr>
            <a:r>
              <a:rPr sz="1800" spc="-155" dirty="0">
                <a:latin typeface="Arial MT"/>
                <a:cs typeface="Arial MT"/>
              </a:rPr>
              <a:t>Wesleyan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University </a:t>
            </a:r>
            <a:r>
              <a:rPr sz="1800" spc="-100" dirty="0">
                <a:latin typeface="Arial MT"/>
                <a:cs typeface="Arial MT"/>
              </a:rPr>
              <a:t>Princeton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University</a:t>
            </a:r>
            <a:endParaRPr sz="1800" dirty="0">
              <a:latin typeface="Arial MT"/>
              <a:cs typeface="Arial MT"/>
            </a:endParaRPr>
          </a:p>
          <a:p>
            <a:pPr marR="27940" algn="r">
              <a:lnSpc>
                <a:spcPct val="100000"/>
              </a:lnSpc>
              <a:spcBef>
                <a:spcPts val="1040"/>
              </a:spcBef>
            </a:pPr>
            <a:r>
              <a:rPr sz="1800" spc="-100" dirty="0">
                <a:latin typeface="Arial MT"/>
                <a:cs typeface="Arial MT"/>
              </a:rPr>
              <a:t>Massachusetts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Institute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Technology</a:t>
            </a:r>
            <a:endParaRPr sz="1800" dirty="0">
              <a:latin typeface="Arial MT"/>
              <a:cs typeface="Arial MT"/>
            </a:endParaRPr>
          </a:p>
          <a:p>
            <a:pPr marR="22225" algn="r">
              <a:lnSpc>
                <a:spcPct val="100000"/>
              </a:lnSpc>
              <a:spcBef>
                <a:spcPts val="1040"/>
              </a:spcBef>
            </a:pPr>
            <a:r>
              <a:rPr sz="1800" spc="-190" dirty="0">
                <a:latin typeface="Arial MT"/>
                <a:cs typeface="Arial MT"/>
              </a:rPr>
              <a:t>Yale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University</a:t>
            </a:r>
            <a:endParaRPr sz="1800" dirty="0">
              <a:latin typeface="Arial MT"/>
              <a:cs typeface="Arial MT"/>
            </a:endParaRPr>
          </a:p>
          <a:p>
            <a:pPr marL="725170" marR="16510" indent="504190" algn="r">
              <a:lnSpc>
                <a:spcPts val="3200"/>
              </a:lnSpc>
              <a:spcBef>
                <a:spcPts val="229"/>
              </a:spcBef>
            </a:pPr>
            <a:r>
              <a:rPr sz="1700" spc="-65" dirty="0">
                <a:latin typeface="Arial MT"/>
                <a:cs typeface="Arial MT"/>
              </a:rPr>
              <a:t>Johns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45" dirty="0">
                <a:latin typeface="Arial MT"/>
                <a:cs typeface="Arial MT"/>
              </a:rPr>
              <a:t>Hopkins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45" dirty="0">
                <a:latin typeface="Arial MT"/>
                <a:cs typeface="Arial MT"/>
              </a:rPr>
              <a:t>University </a:t>
            </a:r>
            <a:r>
              <a:rPr sz="1700" spc="-70" dirty="0">
                <a:latin typeface="Arial MT"/>
                <a:cs typeface="Arial MT"/>
              </a:rPr>
              <a:t>Washington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90" dirty="0">
                <a:latin typeface="Arial MT"/>
                <a:cs typeface="Arial MT"/>
              </a:rPr>
              <a:t>and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70" dirty="0">
                <a:latin typeface="Arial MT"/>
                <a:cs typeface="Arial MT"/>
              </a:rPr>
              <a:t>Lee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40" dirty="0">
                <a:latin typeface="Arial MT"/>
                <a:cs typeface="Arial MT"/>
              </a:rPr>
              <a:t>University</a:t>
            </a:r>
            <a:endParaRPr sz="1700" dirty="0">
              <a:latin typeface="Arial MT"/>
              <a:cs typeface="Arial MT"/>
            </a:endParaRPr>
          </a:p>
          <a:p>
            <a:pPr marL="1471930" marR="5080" indent="586105" algn="r">
              <a:lnSpc>
                <a:spcPts val="3200"/>
              </a:lnSpc>
            </a:pPr>
            <a:r>
              <a:rPr sz="1700" spc="-70" dirty="0">
                <a:latin typeface="Arial MT"/>
                <a:cs typeface="Arial MT"/>
              </a:rPr>
              <a:t>Williams</a:t>
            </a:r>
            <a:r>
              <a:rPr sz="1700" dirty="0">
                <a:latin typeface="Arial MT"/>
                <a:cs typeface="Arial MT"/>
              </a:rPr>
              <a:t> </a:t>
            </a:r>
            <a:r>
              <a:rPr sz="1700" spc="-70" dirty="0">
                <a:latin typeface="Arial MT"/>
                <a:cs typeface="Arial MT"/>
              </a:rPr>
              <a:t>College </a:t>
            </a:r>
            <a:r>
              <a:rPr sz="1800" spc="-105" dirty="0">
                <a:latin typeface="Arial MT"/>
                <a:cs typeface="Arial MT"/>
              </a:rPr>
              <a:t>Stanford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University </a:t>
            </a:r>
            <a:r>
              <a:rPr sz="1700" spc="-65" dirty="0">
                <a:latin typeface="Arial MT"/>
                <a:cs typeface="Arial MT"/>
              </a:rPr>
              <a:t>Holy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80" dirty="0">
                <a:latin typeface="Arial MT"/>
                <a:cs typeface="Arial MT"/>
              </a:rPr>
              <a:t>Names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-40" dirty="0">
                <a:latin typeface="Arial MT"/>
                <a:cs typeface="Arial MT"/>
              </a:rPr>
              <a:t>University</a:t>
            </a:r>
            <a:endParaRPr sz="1700" dirty="0">
              <a:latin typeface="Arial MT"/>
              <a:cs typeface="Arial MT"/>
            </a:endParaRPr>
          </a:p>
          <a:p>
            <a:pPr marR="7620" algn="r">
              <a:lnSpc>
                <a:spcPct val="100000"/>
              </a:lnSpc>
              <a:spcBef>
                <a:spcPts val="710"/>
              </a:spcBef>
            </a:pPr>
            <a:r>
              <a:rPr sz="1850" spc="-200" dirty="0">
                <a:latin typeface="Arial MT"/>
                <a:cs typeface="Arial MT"/>
              </a:rPr>
              <a:t>Berea</a:t>
            </a:r>
            <a:r>
              <a:rPr sz="1850" spc="6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College</a:t>
            </a:r>
            <a:endParaRPr sz="185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8045" y="6303786"/>
            <a:ext cx="343535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405" dirty="0">
                <a:latin typeface="Courier New"/>
                <a:cs typeface="Courier New"/>
              </a:rPr>
              <a:t>l0k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95384" y="1790444"/>
            <a:ext cx="3060065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 MT"/>
              </a:rPr>
              <a:t>The Advertised </a:t>
            </a:r>
            <a:r>
              <a:rPr lang="en-IN" dirty="0">
                <a:latin typeface="Arial MT"/>
              </a:rPr>
              <a:t>"</a:t>
            </a:r>
            <a:r>
              <a:rPr dirty="0">
                <a:latin typeface="Arial MT"/>
              </a:rPr>
              <a:t>Sticker Price"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60670" y="1432038"/>
            <a:ext cx="4329430" cy="57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Arial MT"/>
              </a:rPr>
              <a:t>The Actual Net Price f</a:t>
            </a:r>
            <a:r>
              <a:rPr lang="en-IN" dirty="0">
                <a:latin typeface="Arial MT"/>
              </a:rPr>
              <a:t>o</a:t>
            </a:r>
            <a:r>
              <a:rPr dirty="0">
                <a:latin typeface="Arial MT"/>
              </a:rPr>
              <a:t>r</a:t>
            </a:r>
            <a:r>
              <a:rPr lang="en-IN" dirty="0">
                <a:latin typeface="Arial MT"/>
              </a:rPr>
              <a:t> Y</a:t>
            </a:r>
            <a:r>
              <a:rPr dirty="0">
                <a:latin typeface="Arial MT"/>
              </a:rPr>
              <a:t>our </a:t>
            </a:r>
            <a:r>
              <a:rPr lang="en-IN" dirty="0">
                <a:latin typeface="Arial MT"/>
              </a:rPr>
              <a:t>Income</a:t>
            </a:r>
            <a:r>
              <a:rPr dirty="0">
                <a:latin typeface="Arial MT"/>
              </a:rPr>
              <a:t> Band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943929" y="6347883"/>
            <a:ext cx="342900" cy="279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-40" dirty="0">
                <a:latin typeface="Arial MT"/>
                <a:cs typeface="Arial MT"/>
              </a:rPr>
              <a:t>20k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68999" y="6321425"/>
            <a:ext cx="1050925" cy="6324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25" dirty="0">
                <a:latin typeface="Arial MT"/>
                <a:cs typeface="Arial MT"/>
              </a:rPr>
              <a:t>30k</a:t>
            </a:r>
            <a:endParaRPr sz="1850">
              <a:latin typeface="Arial MT"/>
              <a:cs typeface="Arial MT"/>
            </a:endParaRPr>
          </a:p>
          <a:p>
            <a:pPr marL="225425">
              <a:lnSpc>
                <a:spcPct val="100000"/>
              </a:lnSpc>
              <a:spcBef>
                <a:spcPts val="130"/>
              </a:spcBef>
            </a:pPr>
            <a:r>
              <a:rPr sz="2000" spc="-100" dirty="0">
                <a:latin typeface="Arial MT"/>
                <a:cs typeface="Arial MT"/>
              </a:rPr>
              <a:t>Cost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($)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90100" y="6321425"/>
            <a:ext cx="37084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95" dirty="0">
                <a:latin typeface="Consolas"/>
                <a:cs typeface="Consolas"/>
              </a:rPr>
              <a:t>40k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27673" y="5462763"/>
            <a:ext cx="3046095" cy="14305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225">
              <a:lnSpc>
                <a:spcPts val="1995"/>
              </a:lnSpc>
              <a:spcBef>
                <a:spcPts val="135"/>
              </a:spcBef>
            </a:pPr>
            <a:r>
              <a:rPr dirty="0">
                <a:latin typeface="Arial MT"/>
              </a:rPr>
              <a:t>The ”Discount G</a:t>
            </a:r>
            <a:r>
              <a:rPr lang="en-IN" dirty="0">
                <a:latin typeface="Arial MT"/>
              </a:rPr>
              <a:t>a</a:t>
            </a:r>
            <a:r>
              <a:rPr dirty="0">
                <a:latin typeface="Arial MT"/>
              </a:rPr>
              <a:t>p"—A longer</a:t>
            </a:r>
            <a:r>
              <a:rPr lang="en-IN" dirty="0">
                <a:latin typeface="Arial MT"/>
              </a:rPr>
              <a:t> </a:t>
            </a:r>
            <a:r>
              <a:rPr dirty="0">
                <a:latin typeface="Arial MT"/>
              </a:rPr>
              <a:t>line signals a better deal</a:t>
            </a: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dirty="0">
              <a:latin typeface="Arial MT"/>
            </a:endParaRPr>
          </a:p>
          <a:p>
            <a:pPr marL="412750">
              <a:lnSpc>
                <a:spcPct val="100000"/>
              </a:lnSpc>
              <a:tabLst>
                <a:tab pos="2242185" algn="l"/>
              </a:tabLst>
            </a:pPr>
            <a:r>
              <a:rPr dirty="0">
                <a:latin typeface="Arial MT"/>
              </a:rPr>
              <a:t>50k	60k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06147" y="7036086"/>
            <a:ext cx="15622269" cy="31021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480">
              <a:lnSpc>
                <a:spcPts val="2680"/>
              </a:lnSpc>
              <a:spcBef>
                <a:spcPts val="90"/>
              </a:spcBef>
            </a:pPr>
            <a:r>
              <a:rPr sz="2000" b="1" dirty="0">
                <a:latin typeface="Arial MT"/>
              </a:rPr>
              <a:t>Why a Dumbbell Chart?</a:t>
            </a:r>
            <a:r>
              <a:rPr sz="2000" dirty="0">
                <a:latin typeface="Arial MT"/>
              </a:rPr>
              <a:t> This visualization was chosen over a standard bar chart because it excels at showing the difference</a:t>
            </a:r>
          </a:p>
          <a:p>
            <a:pPr marL="27940">
              <a:lnSpc>
                <a:spcPts val="2680"/>
              </a:lnSpc>
            </a:pPr>
            <a:r>
              <a:rPr sz="2000" dirty="0">
                <a:latin typeface="Arial MT"/>
              </a:rPr>
              <a:t>between two points for each category. Our story is about the size of the discount, and this chart </a:t>
            </a:r>
            <a:r>
              <a:rPr lang="en-IN" sz="2000" dirty="0">
                <a:latin typeface="Arial MT"/>
              </a:rPr>
              <a:t>illustrates</a:t>
            </a:r>
            <a:r>
              <a:rPr sz="2000" dirty="0">
                <a:latin typeface="Arial MT"/>
              </a:rPr>
              <a:t> that </a:t>
            </a:r>
            <a:r>
              <a:rPr lang="en-IN" sz="2000" dirty="0">
                <a:latin typeface="Arial MT"/>
              </a:rPr>
              <a:t>size</a:t>
            </a:r>
            <a:r>
              <a:rPr sz="2000" dirty="0">
                <a:latin typeface="Arial MT"/>
              </a:rPr>
              <a:t> </a:t>
            </a:r>
            <a:r>
              <a:rPr lang="en-IN" sz="2000" dirty="0">
                <a:latin typeface="Arial MT"/>
              </a:rPr>
              <a:t>through the gap between the two points.</a:t>
            </a:r>
            <a:endParaRPr sz="2000" dirty="0">
              <a:latin typeface="Arial MT"/>
            </a:endParaRPr>
          </a:p>
          <a:p>
            <a:pPr marL="24130" marR="378460" indent="-12065">
              <a:lnSpc>
                <a:spcPts val="2600"/>
              </a:lnSpc>
              <a:spcBef>
                <a:spcPts val="1360"/>
              </a:spcBef>
            </a:pPr>
            <a:r>
              <a:rPr sz="2000" b="1" dirty="0">
                <a:latin typeface="Arial MT"/>
              </a:rPr>
              <a:t>Key Insight:</a:t>
            </a:r>
            <a:r>
              <a:rPr sz="2000" dirty="0">
                <a:latin typeface="Arial MT"/>
              </a:rPr>
              <a:t> The chart instantly reveals which institutions, despite potentially high sticker prices, offer the most significant discounts for middle-class families.</a:t>
            </a:r>
          </a:p>
          <a:p>
            <a:pPr marL="13970">
              <a:spcBef>
                <a:spcPts val="1080"/>
              </a:spcBef>
            </a:pPr>
            <a:r>
              <a:rPr sz="2000" b="1" dirty="0">
                <a:latin typeface="Arial MT"/>
              </a:rPr>
              <a:t>Interpreting the Data:</a:t>
            </a:r>
            <a:r>
              <a:rPr sz="2000" dirty="0">
                <a:latin typeface="Arial MT"/>
              </a:rPr>
              <a:t> Institutions like Wesleyan University and Princeton demonstrate a massive “Discount Gap,“ signaling a</a:t>
            </a:r>
            <a:r>
              <a:rPr lang="en-IN" sz="2000" dirty="0">
                <a:latin typeface="Arial MT"/>
              </a:rPr>
              <a:t> </a:t>
            </a:r>
            <a:r>
              <a:rPr lang="en-US" sz="2000" dirty="0">
                <a:latin typeface="Arial MT"/>
              </a:rPr>
              <a:t>strong commitment to affordability that isn't apparent from their sticker prices alone.</a:t>
            </a:r>
          </a:p>
          <a:p>
            <a:pPr marL="13970">
              <a:lnSpc>
                <a:spcPct val="100000"/>
              </a:lnSpc>
              <a:spcBef>
                <a:spcPts val="1080"/>
              </a:spcBef>
            </a:pPr>
            <a:endParaRPr sz="2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A8F74B-2C93-A98B-C37F-B21E8C09C9BE}"/>
              </a:ext>
            </a:extLst>
          </p:cNvPr>
          <p:cNvCxnSpPr/>
          <p:nvPr/>
        </p:nvCxnSpPr>
        <p:spPr>
          <a:xfrm>
            <a:off x="14835585" y="2061696"/>
            <a:ext cx="531415" cy="156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2500" y="2082800"/>
            <a:ext cx="99695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70300" y="2120900"/>
            <a:ext cx="279400" cy="3276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667447" y="7534991"/>
            <a:ext cx="301625" cy="11576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50"/>
              </a:lnSpc>
            </a:pPr>
            <a:r>
              <a:rPr sz="1950" spc="-190" dirty="0">
                <a:latin typeface="Arial MT"/>
                <a:cs typeface="Arial MT"/>
              </a:rPr>
              <a:t>Lower</a:t>
            </a:r>
            <a:r>
              <a:rPr sz="1950" spc="85" dirty="0">
                <a:latin typeface="Arial MT"/>
                <a:cs typeface="Arial MT"/>
              </a:rPr>
              <a:t> </a:t>
            </a:r>
            <a:r>
              <a:rPr sz="1950" spc="-215" dirty="0">
                <a:latin typeface="Arial MT"/>
                <a:cs typeface="Arial MT"/>
              </a:rPr>
              <a:t>Value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67447" y="5580849"/>
            <a:ext cx="301625" cy="9086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50"/>
              </a:lnSpc>
            </a:pPr>
            <a:r>
              <a:rPr sz="1950" spc="-320" dirty="0">
                <a:latin typeface="Arial MT"/>
                <a:cs typeface="Arial MT"/>
              </a:rPr>
              <a:t>Composše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67447" y="4228133"/>
            <a:ext cx="301625" cy="12185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50"/>
              </a:lnSpc>
            </a:pPr>
            <a:r>
              <a:rPr sz="1950" spc="-235" dirty="0">
                <a:latin typeface="Arial MT"/>
                <a:cs typeface="Arial MT"/>
              </a:rPr>
              <a:t>Score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spc="-204" dirty="0">
                <a:latin typeface="Arial MT"/>
                <a:cs typeface="Arial MT"/>
              </a:rPr>
              <a:t>(Value)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667447" y="2112091"/>
            <a:ext cx="301625" cy="11976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50"/>
              </a:lnSpc>
            </a:pPr>
            <a:r>
              <a:rPr sz="1950" spc="-175" dirty="0">
                <a:latin typeface="Arial MT"/>
                <a:cs typeface="Arial MT"/>
              </a:rPr>
              <a:t>Higher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spc="-215" dirty="0">
                <a:latin typeface="Arial MT"/>
                <a:cs typeface="Arial MT"/>
              </a:rPr>
              <a:t>Value</a:t>
            </a:r>
            <a:endParaRPr sz="1950" dirty="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88900" y="2997200"/>
            <a:ext cx="203200" cy="2286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85343" y="414161"/>
            <a:ext cx="15914369" cy="808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100" dirty="0">
                <a:solidFill>
                  <a:srgbClr val="0E2342"/>
                </a:solidFill>
              </a:rPr>
              <a:t>Finding</a:t>
            </a:r>
            <a:r>
              <a:rPr sz="5100" spc="395" dirty="0">
                <a:solidFill>
                  <a:srgbClr val="0E2342"/>
                </a:solidFill>
              </a:rPr>
              <a:t> </a:t>
            </a:r>
            <a:r>
              <a:rPr sz="5100" spc="65" dirty="0">
                <a:solidFill>
                  <a:srgbClr val="0E1C3A"/>
                </a:solidFill>
              </a:rPr>
              <a:t>the</a:t>
            </a:r>
            <a:r>
              <a:rPr sz="5100" spc="90" dirty="0">
                <a:solidFill>
                  <a:srgbClr val="0E1C3A"/>
                </a:solidFill>
              </a:rPr>
              <a:t> </a:t>
            </a:r>
            <a:r>
              <a:rPr sz="5100" dirty="0">
                <a:solidFill>
                  <a:srgbClr val="0F1D3D"/>
                </a:solidFill>
              </a:rPr>
              <a:t>Sweet</a:t>
            </a:r>
            <a:r>
              <a:rPr sz="5100" spc="270" dirty="0">
                <a:solidFill>
                  <a:srgbClr val="0F1D3D"/>
                </a:solidFill>
              </a:rPr>
              <a:t> </a:t>
            </a:r>
            <a:r>
              <a:rPr sz="5100" spc="60" dirty="0">
                <a:solidFill>
                  <a:srgbClr val="0F213F"/>
                </a:solidFill>
              </a:rPr>
              <a:t>Spot:</a:t>
            </a:r>
            <a:r>
              <a:rPr sz="5100" spc="-20" dirty="0">
                <a:solidFill>
                  <a:srgbClr val="0F213F"/>
                </a:solidFill>
              </a:rPr>
              <a:t> </a:t>
            </a:r>
            <a:r>
              <a:rPr sz="5100" dirty="0">
                <a:solidFill>
                  <a:srgbClr val="0C1C36"/>
                </a:solidFill>
              </a:rPr>
              <a:t>Balancing</a:t>
            </a:r>
            <a:r>
              <a:rPr sz="5100" spc="125" dirty="0">
                <a:solidFill>
                  <a:srgbClr val="0C1C36"/>
                </a:solidFill>
              </a:rPr>
              <a:t> </a:t>
            </a:r>
            <a:r>
              <a:rPr sz="5100" spc="120" dirty="0">
                <a:solidFill>
                  <a:srgbClr val="0C1A38"/>
                </a:solidFill>
              </a:rPr>
              <a:t>Cost,</a:t>
            </a:r>
            <a:r>
              <a:rPr sz="5100" spc="110" dirty="0">
                <a:solidFill>
                  <a:srgbClr val="0C1A38"/>
                </a:solidFill>
              </a:rPr>
              <a:t> </a:t>
            </a:r>
            <a:r>
              <a:rPr sz="5100" spc="55" dirty="0">
                <a:solidFill>
                  <a:srgbClr val="111F3A"/>
                </a:solidFill>
              </a:rPr>
              <a:t>Quality,</a:t>
            </a:r>
            <a:r>
              <a:rPr sz="5100" spc="370" dirty="0">
                <a:solidFill>
                  <a:srgbClr val="111F3A"/>
                </a:solidFill>
              </a:rPr>
              <a:t> </a:t>
            </a:r>
            <a:r>
              <a:rPr sz="5100" dirty="0">
                <a:solidFill>
                  <a:srgbClr val="081A36"/>
                </a:solidFill>
              </a:rPr>
              <a:t>and</a:t>
            </a:r>
            <a:r>
              <a:rPr sz="5100" spc="145" dirty="0">
                <a:solidFill>
                  <a:srgbClr val="081A36"/>
                </a:solidFill>
              </a:rPr>
              <a:t> </a:t>
            </a:r>
            <a:r>
              <a:rPr sz="5100" spc="-25" dirty="0">
                <a:solidFill>
                  <a:srgbClr val="0C1F3F"/>
                </a:solidFill>
              </a:rPr>
              <a:t>Aid</a:t>
            </a:r>
            <a:endParaRPr sz="5100"/>
          </a:p>
        </p:txBody>
      </p:sp>
      <p:sp>
        <p:nvSpPr>
          <p:cNvPr id="11" name="object 11"/>
          <p:cNvSpPr txBox="1"/>
          <p:nvPr/>
        </p:nvSpPr>
        <p:spPr>
          <a:xfrm>
            <a:off x="700864" y="1494298"/>
            <a:ext cx="4523740" cy="2127698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80"/>
              </a:spcBef>
            </a:pPr>
            <a:r>
              <a:rPr sz="2000" dirty="0">
                <a:latin typeface="Arial MT"/>
              </a:rPr>
              <a:t>A Multi-Dimensional View:</a:t>
            </a:r>
          </a:p>
          <a:p>
            <a:pPr marL="12700" marR="5080" indent="8890">
              <a:lnSpc>
                <a:spcPct val="104000"/>
              </a:lnSpc>
              <a:spcBef>
                <a:spcPts val="750"/>
              </a:spcBef>
            </a:pPr>
            <a:r>
              <a:rPr sz="2000" dirty="0">
                <a:latin typeface="Arial MT"/>
              </a:rPr>
              <a:t>College selection is never about a single number. This Parallel Coordinates Plot reveals the complex trade-offs between competing institutional priorities: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45206" y="1677105"/>
            <a:ext cx="134112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30" dirty="0">
                <a:latin typeface="Arial MT"/>
                <a:cs typeface="Arial MT"/>
              </a:rPr>
              <a:t>Sticker</a:t>
            </a:r>
            <a:r>
              <a:rPr sz="1950" spc="-100" dirty="0">
                <a:latin typeface="Arial MT"/>
                <a:cs typeface="Arial MT"/>
              </a:rPr>
              <a:t> </a:t>
            </a:r>
            <a:r>
              <a:rPr sz="1950" spc="-55" dirty="0">
                <a:latin typeface="Arial MT"/>
                <a:cs typeface="Arial MT"/>
              </a:rPr>
              <a:t>Price</a:t>
            </a:r>
            <a:endParaRPr sz="195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47363" y="1677105"/>
            <a:ext cx="213487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130" dirty="0">
                <a:latin typeface="Arial MT"/>
                <a:cs typeface="Arial MT"/>
              </a:rPr>
              <a:t>Avg</a:t>
            </a:r>
            <a:r>
              <a:rPr sz="1950" spc="-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Merit/Inst</a:t>
            </a:r>
            <a:r>
              <a:rPr sz="1950" spc="-5" dirty="0">
                <a:latin typeface="Arial MT"/>
                <a:cs typeface="Arial MT"/>
              </a:rPr>
              <a:t> </a:t>
            </a:r>
            <a:r>
              <a:rPr sz="1950" spc="-40" dirty="0">
                <a:latin typeface="Arial MT"/>
                <a:cs typeface="Arial MT"/>
              </a:rPr>
              <a:t>Grant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34963" y="1677105"/>
            <a:ext cx="3963035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21230" algn="l"/>
              </a:tabLst>
            </a:pPr>
            <a:r>
              <a:rPr sz="1950" spc="-60" dirty="0">
                <a:latin typeface="Arial MT"/>
                <a:cs typeface="Arial MT"/>
              </a:rPr>
              <a:t>Admissions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spc="-20" dirty="0">
                <a:latin typeface="Arial MT"/>
                <a:cs typeface="Arial MT"/>
              </a:rPr>
              <a:t>Rate</a:t>
            </a:r>
            <a:r>
              <a:rPr sz="1950" dirty="0">
                <a:latin typeface="Arial MT"/>
                <a:cs typeface="Arial MT"/>
              </a:rPr>
              <a:t>	</a:t>
            </a:r>
            <a:r>
              <a:rPr sz="1950" spc="-50" dirty="0">
                <a:latin typeface="Arial MT"/>
                <a:cs typeface="Arial MT"/>
              </a:rPr>
              <a:t>Graduation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spc="-35" dirty="0">
                <a:latin typeface="Arial MT"/>
                <a:cs typeface="Arial MT"/>
              </a:rPr>
              <a:t>Rate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655076" y="1677105"/>
            <a:ext cx="153797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110" dirty="0">
                <a:latin typeface="Arial MT"/>
                <a:cs typeface="Arial MT"/>
              </a:rPr>
              <a:t>Your</a:t>
            </a:r>
            <a:r>
              <a:rPr sz="1950" spc="15" dirty="0">
                <a:latin typeface="Arial MT"/>
                <a:cs typeface="Arial MT"/>
              </a:rPr>
              <a:t> </a:t>
            </a:r>
            <a:r>
              <a:rPr sz="1950" spc="-45" dirty="0">
                <a:latin typeface="Arial MT"/>
                <a:cs typeface="Arial MT"/>
              </a:rPr>
              <a:t>Net</a:t>
            </a:r>
            <a:r>
              <a:rPr sz="1950" spc="-90" dirty="0">
                <a:latin typeface="Arial MT"/>
                <a:cs typeface="Arial MT"/>
              </a:rPr>
              <a:t> </a:t>
            </a:r>
            <a:r>
              <a:rPr sz="1950" spc="-25" dirty="0">
                <a:latin typeface="Arial MT"/>
                <a:cs typeface="Arial MT"/>
              </a:rPr>
              <a:t>Price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11941" y="2516363"/>
            <a:ext cx="483234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>
                <a:latin typeface="Arial MT"/>
                <a:cs typeface="Arial MT"/>
              </a:rPr>
              <a:t>$6</a:t>
            </a:r>
            <a:r>
              <a:rPr lang="en-IN" spc="-65" dirty="0">
                <a:latin typeface="Arial MT"/>
                <a:cs typeface="Arial MT"/>
              </a:rPr>
              <a:t>5</a:t>
            </a:r>
            <a:r>
              <a:rPr spc="-65" dirty="0">
                <a:latin typeface="Arial MT"/>
                <a:cs typeface="Arial MT"/>
              </a:rPr>
              <a:t>k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3424" y="3811895"/>
            <a:ext cx="4427855" cy="205056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1140" indent="-217804">
              <a:lnSpc>
                <a:spcPts val="2655"/>
              </a:lnSpc>
              <a:spcBef>
                <a:spcPts val="90"/>
              </a:spcBef>
              <a:buChar char="•"/>
              <a:tabLst>
                <a:tab pos="231140" algn="l"/>
              </a:tabLst>
            </a:pPr>
            <a:r>
              <a:rPr sz="2000" dirty="0">
                <a:latin typeface="Arial MT"/>
              </a:rPr>
              <a:t>Sticker Price &amp; Avg Merit/lnst Grant</a:t>
            </a:r>
          </a:p>
          <a:p>
            <a:pPr marL="252095">
              <a:lnSpc>
                <a:spcPts val="2605"/>
              </a:lnSpc>
            </a:pPr>
            <a:r>
              <a:rPr sz="2000" dirty="0">
                <a:latin typeface="Arial MT"/>
              </a:rPr>
              <a:t>(Cost vs. Generosity)</a:t>
            </a:r>
          </a:p>
          <a:p>
            <a:pPr marL="245110" indent="-232410">
              <a:lnSpc>
                <a:spcPts val="2575"/>
              </a:lnSpc>
              <a:buChar char="•"/>
              <a:tabLst>
                <a:tab pos="245110" algn="l"/>
              </a:tabLst>
            </a:pPr>
            <a:r>
              <a:rPr sz="2000" dirty="0">
                <a:latin typeface="Arial MT"/>
              </a:rPr>
              <a:t>Admissions Rate (Selectivity)</a:t>
            </a:r>
          </a:p>
          <a:p>
            <a:pPr marL="233679" marR="5080" indent="-221615">
              <a:lnSpc>
                <a:spcPts val="2600"/>
              </a:lnSpc>
              <a:spcBef>
                <a:spcPts val="185"/>
              </a:spcBef>
              <a:buChar char="•"/>
              <a:tabLst>
                <a:tab pos="233679" algn="l"/>
                <a:tab pos="240665" algn="l"/>
              </a:tabLst>
            </a:pPr>
            <a:r>
              <a:rPr sz="2000" dirty="0">
                <a:latin typeface="Arial MT"/>
              </a:rPr>
              <a:t>	Graduation Rate (Quality &amp; Efficiency Proxy)</a:t>
            </a:r>
          </a:p>
          <a:p>
            <a:pPr marL="243840" indent="-231140">
              <a:lnSpc>
                <a:spcPts val="2550"/>
              </a:lnSpc>
              <a:buChar char="•"/>
              <a:tabLst>
                <a:tab pos="243840" algn="l"/>
              </a:tabLst>
            </a:pPr>
            <a:r>
              <a:rPr sz="2000" dirty="0">
                <a:latin typeface="Arial MT"/>
              </a:rPr>
              <a:t>Your Net Price (The Bottom Line)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006726" y="3677708"/>
            <a:ext cx="597274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dirty="0"/>
              <a:t>$60k</a:t>
            </a:r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698824" y="6391836"/>
            <a:ext cx="4909820" cy="271606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latin typeface="Arial MT"/>
              </a:rPr>
              <a:t>Actionable Insight for Families:</a:t>
            </a:r>
          </a:p>
          <a:p>
            <a:pPr marL="12700" marR="5080" indent="3175">
              <a:lnSpc>
                <a:spcPct val="101600"/>
              </a:lnSpc>
              <a:spcBef>
                <a:spcPts val="750"/>
              </a:spcBef>
            </a:pPr>
            <a:r>
              <a:rPr sz="2000" dirty="0">
                <a:latin typeface="Arial MT"/>
              </a:rPr>
              <a:t>This visualization strategy allows you to define "value" on your own terms. It helps answer critical questions IIke: "Which highly selective schools with a &gt;90% graduation rate still offer a net price I can afford?" The answer lies where the lines converge in your desired "sweet spot."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011941" y="6173963"/>
            <a:ext cx="592059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>
                <a:latin typeface="Arial MT"/>
                <a:cs typeface="Arial MT"/>
              </a:rPr>
              <a:t>$50k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91292" y="5889625"/>
            <a:ext cx="774907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Arial MT"/>
              </a:rPr>
              <a:t>$4</a:t>
            </a:r>
            <a:r>
              <a:rPr lang="en-IN" dirty="0">
                <a:latin typeface="Arial MT"/>
              </a:rPr>
              <a:t>0</a:t>
            </a:r>
            <a:r>
              <a:rPr dirty="0">
                <a:latin typeface="Arial MT"/>
              </a:rPr>
              <a:t>k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208412" y="6740525"/>
            <a:ext cx="605388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Arial MT"/>
              </a:rPr>
              <a:t>$35k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180733" y="7602714"/>
            <a:ext cx="512445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5" dirty="0">
                <a:latin typeface="Arial MT"/>
                <a:cs typeface="Comic Sans MS"/>
              </a:rPr>
              <a:t>$30k</a:t>
            </a:r>
            <a:endParaRPr>
              <a:latin typeface="Arial MT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81567" y="3336925"/>
            <a:ext cx="674136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Arial MT"/>
              </a:rPr>
              <a:t>0.8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0585497" y="4709583"/>
            <a:ext cx="895303" cy="29174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>
                <a:latin typeface="Arial MT"/>
              </a:rPr>
              <a:t>0.6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0561228" y="5994047"/>
            <a:ext cx="91957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 MT"/>
              </a:rPr>
              <a:t>0.</a:t>
            </a:r>
            <a:r>
              <a:rPr lang="en-IN" dirty="0">
                <a:latin typeface="Arial MT"/>
              </a:rPr>
              <a:t>5</a:t>
            </a:r>
            <a:endParaRPr dirty="0">
              <a:latin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146878" y="2216502"/>
            <a:ext cx="1507490" cy="11918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280"/>
              </a:spcBef>
            </a:pPr>
            <a:r>
              <a:rPr sz="1600" spc="-85" dirty="0">
                <a:latin typeface="Arial MT"/>
                <a:cs typeface="Arial MT"/>
              </a:rPr>
              <a:t>Each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line </a:t>
            </a:r>
            <a:r>
              <a:rPr sz="1700" spc="-80" dirty="0">
                <a:latin typeface="Arial MT"/>
                <a:cs typeface="Arial MT"/>
              </a:rPr>
              <a:t>represents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one </a:t>
            </a:r>
            <a:r>
              <a:rPr sz="1700" spc="-85" dirty="0">
                <a:latin typeface="Arial MT"/>
                <a:cs typeface="Arial MT"/>
              </a:rPr>
              <a:t>university.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85" dirty="0">
                <a:latin typeface="Arial MT"/>
                <a:cs typeface="Arial MT"/>
              </a:rPr>
              <a:t>Follow </a:t>
            </a:r>
            <a:r>
              <a:rPr sz="1650" spc="-20" dirty="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sz="1650" spc="-8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50" spc="-45" dirty="0">
                <a:latin typeface="Arial MT"/>
                <a:cs typeface="Arial MT"/>
              </a:rPr>
              <a:t>line</a:t>
            </a:r>
            <a:r>
              <a:rPr sz="1650" spc="-9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to</a:t>
            </a:r>
            <a:r>
              <a:rPr sz="1650" spc="65" dirty="0">
                <a:latin typeface="Arial MT"/>
                <a:cs typeface="Arial MT"/>
              </a:rPr>
              <a:t> </a:t>
            </a:r>
            <a:r>
              <a:rPr sz="1650" spc="-110" dirty="0">
                <a:solidFill>
                  <a:srgbClr val="0F0F0F"/>
                </a:solidFill>
                <a:latin typeface="Arial MT"/>
                <a:cs typeface="Arial MT"/>
              </a:rPr>
              <a:t>see</a:t>
            </a:r>
            <a:r>
              <a:rPr sz="1650" spc="-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0F0F0F"/>
                </a:solidFill>
                <a:latin typeface="Arial MT"/>
                <a:cs typeface="Arial MT"/>
              </a:rPr>
              <a:t>its </a:t>
            </a:r>
            <a:r>
              <a:rPr sz="1650" spc="-105" dirty="0">
                <a:latin typeface="Arial MT"/>
                <a:cs typeface="Arial MT"/>
              </a:rPr>
              <a:t>un”que</a:t>
            </a:r>
            <a:r>
              <a:rPr sz="1650" spc="1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profit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791744" y="4691944"/>
            <a:ext cx="1353185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 MT"/>
              </a:rPr>
              <a:t>0.8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2772021" y="6002866"/>
            <a:ext cx="335280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Arial MT"/>
              </a:rPr>
              <a:t>0.7</a:t>
            </a:r>
            <a:endParaRPr>
              <a:latin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772020" y="7349066"/>
            <a:ext cx="918579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Arial MT"/>
              </a:rPr>
              <a:t>0.6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209356" y="8430683"/>
            <a:ext cx="480059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dirty="0">
                <a:latin typeface="Arial MT"/>
              </a:rPr>
              <a:t>$25k</a:t>
            </a:r>
            <a:endParaRPr sz="1600">
              <a:latin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793395" y="8687505"/>
            <a:ext cx="302260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>
                <a:latin typeface="Arial MT"/>
              </a:rPr>
              <a:t>0</a:t>
            </a:r>
            <a:endParaRPr dirty="0">
              <a:latin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375944" y="7167747"/>
            <a:ext cx="1537970" cy="1979388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535"/>
              </a:spcBef>
              <a:tabLst>
                <a:tab pos="1130300" algn="l"/>
              </a:tabLst>
            </a:pPr>
            <a:r>
              <a:rPr sz="1600" dirty="0">
                <a:latin typeface="Arial MT"/>
              </a:rPr>
              <a:t>In an interactive tool, you can filter on any a</a:t>
            </a:r>
            <a:r>
              <a:rPr lang="en-IN" sz="1600" dirty="0" err="1">
                <a:latin typeface="Arial MT"/>
              </a:rPr>
              <a:t>xis</a:t>
            </a:r>
            <a:r>
              <a:rPr lang="en-IN" sz="1600" dirty="0">
                <a:latin typeface="Arial MT"/>
              </a:rPr>
              <a:t> </a:t>
            </a:r>
            <a:r>
              <a:rPr sz="1600" dirty="0">
                <a:latin typeface="Arial MT"/>
              </a:rPr>
              <a:t>for</a:t>
            </a:r>
            <a:r>
              <a:rPr lang="en-IN" sz="1600" dirty="0">
                <a:latin typeface="Arial MT"/>
              </a:rPr>
              <a:t> example, to see only schools with a Net Price below $15,000</a:t>
            </a:r>
          </a:p>
          <a:p>
            <a:pPr marL="12700" marR="5080">
              <a:lnSpc>
                <a:spcPts val="1800"/>
              </a:lnSpc>
              <a:spcBef>
                <a:spcPts val="535"/>
              </a:spcBef>
              <a:tabLst>
                <a:tab pos="1130300" algn="l"/>
              </a:tabLst>
            </a:pPr>
            <a:endParaRPr sz="1600" dirty="0">
              <a:latin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10998" y="8503355"/>
            <a:ext cx="1185545" cy="75501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pc="-20" dirty="0">
                <a:latin typeface="Arial MT"/>
                <a:cs typeface="Arial MT"/>
              </a:rPr>
              <a:t>$40</a:t>
            </a:r>
            <a:r>
              <a:rPr lang="en-IN" spc="-20" dirty="0">
                <a:latin typeface="Arial MT"/>
                <a:cs typeface="Arial MT"/>
              </a:rPr>
              <a:t>k</a:t>
            </a:r>
            <a:endParaRPr lang="en-IN" dirty="0">
              <a:latin typeface="Arial MT"/>
              <a:cs typeface="Arial MT"/>
            </a:endParaRPr>
          </a:p>
          <a:p>
            <a:pPr marL="36830">
              <a:lnSpc>
                <a:spcPct val="100000"/>
              </a:lnSpc>
              <a:spcBef>
                <a:spcPts val="660"/>
              </a:spcBef>
            </a:pPr>
            <a:r>
              <a:rPr lang="en-IN" sz="1700" spc="-45" dirty="0">
                <a:latin typeface="Arial MT"/>
                <a:cs typeface="Arial MT"/>
              </a:rPr>
              <a:t>Sticker</a:t>
            </a:r>
            <a:r>
              <a:rPr lang="en-IN" sz="1700" spc="-65" dirty="0">
                <a:latin typeface="Arial MT"/>
                <a:cs typeface="Arial MT"/>
              </a:rPr>
              <a:t> </a:t>
            </a:r>
            <a:r>
              <a:rPr lang="en-IN" sz="1700" spc="-45" dirty="0">
                <a:latin typeface="Arial MT"/>
                <a:cs typeface="Arial MT"/>
              </a:rPr>
              <a:t>Price</a:t>
            </a:r>
            <a:endParaRPr lang="en-IN" sz="1700" dirty="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887024" y="8967964"/>
            <a:ext cx="184277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120" dirty="0">
                <a:latin typeface="Arial MT"/>
                <a:cs typeface="Arial MT"/>
              </a:rPr>
              <a:t>Avg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Merit/lnst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45" dirty="0">
                <a:latin typeface="Arial MT"/>
                <a:cs typeface="Arial MT"/>
              </a:rPr>
              <a:t>Grant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249224" y="8967964"/>
            <a:ext cx="153352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55" dirty="0">
                <a:latin typeface="Arial MT"/>
                <a:cs typeface="Arial MT"/>
              </a:rPr>
              <a:t>Admissions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Raie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472366" y="8959144"/>
            <a:ext cx="361632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96795" algn="l"/>
              </a:tabLst>
            </a:pPr>
            <a:r>
              <a:rPr sz="1700" spc="-60" dirty="0">
                <a:latin typeface="Arial MT"/>
                <a:cs typeface="Arial MT"/>
              </a:rPr>
              <a:t>Graduation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Rate</a:t>
            </a:r>
            <a:r>
              <a:rPr sz="1700" dirty="0">
                <a:latin typeface="Arial MT"/>
                <a:cs typeface="Arial MT"/>
              </a:rPr>
              <a:t>	</a:t>
            </a:r>
            <a:r>
              <a:rPr sz="2700" spc="-270" baseline="1543" dirty="0">
                <a:latin typeface="Arial MT"/>
                <a:cs typeface="Arial MT"/>
              </a:rPr>
              <a:t>Your</a:t>
            </a:r>
            <a:r>
              <a:rPr sz="2700" spc="52" baseline="1543" dirty="0">
                <a:latin typeface="Arial MT"/>
                <a:cs typeface="Arial MT"/>
              </a:rPr>
              <a:t> </a:t>
            </a:r>
            <a:r>
              <a:rPr lang="en-IN" sz="2700" spc="-150" baseline="1543" dirty="0">
                <a:latin typeface="Arial MT"/>
                <a:cs typeface="Arial MT"/>
              </a:rPr>
              <a:t>N</a:t>
            </a:r>
            <a:r>
              <a:rPr sz="2700" spc="-150" baseline="1543" dirty="0">
                <a:latin typeface="Arial MT"/>
                <a:cs typeface="Arial MT"/>
              </a:rPr>
              <a:t>et</a:t>
            </a:r>
            <a:r>
              <a:rPr sz="2700" spc="22" baseline="1543" dirty="0">
                <a:latin typeface="Arial MT"/>
                <a:cs typeface="Arial MT"/>
              </a:rPr>
              <a:t> </a:t>
            </a:r>
            <a:r>
              <a:rPr sz="2700" spc="-127" baseline="1543" dirty="0">
                <a:latin typeface="Arial MT"/>
                <a:cs typeface="Arial MT"/>
              </a:rPr>
              <a:t>Price</a:t>
            </a:r>
            <a:endParaRPr sz="2700" baseline="1543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7000" y="4622800"/>
            <a:ext cx="1028700" cy="1409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30500" y="5194300"/>
            <a:ext cx="800100" cy="241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97300" y="4597400"/>
            <a:ext cx="1244600" cy="1447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57800" y="5194300"/>
            <a:ext cx="812800" cy="241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94600" y="4813300"/>
            <a:ext cx="914400" cy="13081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225116" y="4474633"/>
            <a:ext cx="0" cy="1342390"/>
          </a:xfrm>
          <a:custGeom>
            <a:avLst/>
            <a:gdLst/>
            <a:ahLst/>
            <a:cxnLst/>
            <a:rect l="l" t="t" r="r" b="b"/>
            <a:pathLst>
              <a:path h="1342389">
                <a:moveTo>
                  <a:pt x="0" y="1341966"/>
                </a:moveTo>
                <a:lnTo>
                  <a:pt x="0" y="0"/>
                </a:lnTo>
              </a:path>
            </a:pathLst>
          </a:custGeom>
          <a:ln w="12700">
            <a:solidFill>
              <a:srgbClr val="5B6B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218766" y="4474633"/>
            <a:ext cx="2095500" cy="342900"/>
            <a:chOff x="6218766" y="4474633"/>
            <a:chExt cx="2095500" cy="342900"/>
          </a:xfrm>
        </p:grpSpPr>
        <p:sp>
          <p:nvSpPr>
            <p:cNvPr id="9" name="object 9"/>
            <p:cNvSpPr/>
            <p:nvPr/>
          </p:nvSpPr>
          <p:spPr>
            <a:xfrm>
              <a:off x="8307916" y="4474633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342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B6B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18766" y="4480983"/>
              <a:ext cx="2095500" cy="0"/>
            </a:xfrm>
            <a:custGeom>
              <a:avLst/>
              <a:gdLst/>
              <a:ahLst/>
              <a:cxnLst/>
              <a:rect l="l" t="t" r="r" b="b"/>
              <a:pathLst>
                <a:path w="2095500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ln w="12700">
              <a:solidFill>
                <a:srgbClr val="5B6B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6218766" y="5810250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12700">
            <a:solidFill>
              <a:srgbClr val="5B6B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18766" y="4806950"/>
            <a:ext cx="2095500" cy="0"/>
          </a:xfrm>
          <a:custGeom>
            <a:avLst/>
            <a:gdLst/>
            <a:ahLst/>
            <a:cxnLst/>
            <a:rect l="l" t="t" r="r" b="b"/>
            <a:pathLst>
              <a:path w="2095500">
                <a:moveTo>
                  <a:pt x="0" y="0"/>
                </a:moveTo>
                <a:lnTo>
                  <a:pt x="2095500" y="0"/>
                </a:lnTo>
              </a:path>
            </a:pathLst>
          </a:custGeom>
          <a:ln w="12700">
            <a:solidFill>
              <a:srgbClr val="5B6B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882000" y="671688"/>
            <a:ext cx="13105130" cy="1731645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 marR="5080" indent="11430">
              <a:lnSpc>
                <a:spcPts val="6100"/>
              </a:lnSpc>
              <a:spcBef>
                <a:spcPts val="1330"/>
              </a:spcBef>
              <a:tabLst>
                <a:tab pos="12701905" algn="l"/>
              </a:tabLst>
            </a:pPr>
            <a:r>
              <a:rPr sz="5400" dirty="0">
                <a:solidFill>
                  <a:srgbClr val="1A2A49"/>
                </a:solidFill>
              </a:rPr>
              <a:t>Beyond</a:t>
            </a:r>
            <a:r>
              <a:rPr sz="5400" spc="110" dirty="0">
                <a:solidFill>
                  <a:srgbClr val="1A2A49"/>
                </a:solidFill>
              </a:rPr>
              <a:t> </a:t>
            </a:r>
            <a:r>
              <a:rPr sz="5400" spc="105" dirty="0">
                <a:solidFill>
                  <a:srgbClr val="1C2A4B"/>
                </a:solidFill>
              </a:rPr>
              <a:t>the</a:t>
            </a:r>
            <a:r>
              <a:rPr sz="5400" spc="-85" dirty="0">
                <a:solidFill>
                  <a:srgbClr val="1C2A4B"/>
                </a:solidFill>
              </a:rPr>
              <a:t> </a:t>
            </a:r>
            <a:r>
              <a:rPr sz="5400" dirty="0">
                <a:solidFill>
                  <a:srgbClr val="162648"/>
                </a:solidFill>
              </a:rPr>
              <a:t>Numbers:</a:t>
            </a:r>
            <a:r>
              <a:rPr sz="5400" spc="135" dirty="0">
                <a:solidFill>
                  <a:srgbClr val="162648"/>
                </a:solidFill>
              </a:rPr>
              <a:t> </a:t>
            </a:r>
            <a:r>
              <a:rPr sz="5400" spc="-10" dirty="0">
                <a:solidFill>
                  <a:srgbClr val="182648"/>
                </a:solidFill>
              </a:rPr>
              <a:t>Understanding</a:t>
            </a:r>
            <a:r>
              <a:rPr lang="en-IN" sz="5400" spc="-10" dirty="0">
                <a:solidFill>
                  <a:srgbClr val="182648"/>
                </a:solidFill>
              </a:rPr>
              <a:t> </a:t>
            </a:r>
            <a:r>
              <a:rPr sz="5400" spc="35" dirty="0">
                <a:solidFill>
                  <a:srgbClr val="162644"/>
                </a:solidFill>
              </a:rPr>
              <a:t>a </a:t>
            </a:r>
            <a:r>
              <a:rPr sz="5400" dirty="0">
                <a:solidFill>
                  <a:srgbClr val="132141"/>
                </a:solidFill>
              </a:rPr>
              <a:t>College’s</a:t>
            </a:r>
            <a:r>
              <a:rPr sz="5400" spc="440" dirty="0">
                <a:solidFill>
                  <a:srgbClr val="132141"/>
                </a:solidFill>
              </a:rPr>
              <a:t> </a:t>
            </a:r>
            <a:r>
              <a:rPr lang="en-IN" sz="5400" spc="440" dirty="0">
                <a:solidFill>
                  <a:srgbClr val="132141"/>
                </a:solidFill>
              </a:rPr>
              <a:t>Values </a:t>
            </a:r>
            <a:r>
              <a:rPr sz="5400" spc="55" dirty="0">
                <a:solidFill>
                  <a:srgbClr val="15233F"/>
                </a:solidFill>
              </a:rPr>
              <a:t>with</a:t>
            </a:r>
            <a:r>
              <a:rPr sz="5400" spc="120" dirty="0">
                <a:solidFill>
                  <a:srgbClr val="15233F"/>
                </a:solidFill>
              </a:rPr>
              <a:t> </a:t>
            </a:r>
            <a:r>
              <a:rPr sz="5400" spc="55" dirty="0">
                <a:solidFill>
                  <a:srgbClr val="182849"/>
                </a:solidFill>
              </a:rPr>
              <a:t>AI</a:t>
            </a:r>
            <a:endParaRPr sz="5400" dirty="0"/>
          </a:p>
        </p:txBody>
      </p:sp>
      <p:sp>
        <p:nvSpPr>
          <p:cNvPr id="14" name="object 14"/>
          <p:cNvSpPr txBox="1"/>
          <p:nvPr/>
        </p:nvSpPr>
        <p:spPr>
          <a:xfrm>
            <a:off x="929468" y="6266744"/>
            <a:ext cx="2035810" cy="841897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-87630" algn="ctr">
              <a:lnSpc>
                <a:spcPts val="2050"/>
              </a:lnSpc>
              <a:spcBef>
                <a:spcPts val="265"/>
              </a:spcBef>
            </a:pPr>
            <a:r>
              <a:rPr dirty="0">
                <a:latin typeface="Arial MT"/>
              </a:rPr>
              <a:t>University Mission Statements (from IC2022Mission.csv)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372874" y="6266744"/>
            <a:ext cx="2469126" cy="841897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algn="ctr">
              <a:lnSpc>
                <a:spcPts val="2050"/>
              </a:lnSpc>
              <a:spcBef>
                <a:spcPts val="265"/>
              </a:spcBef>
            </a:pPr>
            <a:r>
              <a:rPr dirty="0">
                <a:latin typeface="Arial MT"/>
              </a:rPr>
              <a:t>Retrieval-Augmented Generation (RAG) Model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85516" y="4849283"/>
            <a:ext cx="1731645" cy="7366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3970" marR="5080" indent="-1905" algn="just">
              <a:lnSpc>
                <a:spcPts val="1800"/>
              </a:lnSpc>
              <a:spcBef>
                <a:spcPts val="325"/>
              </a:spcBef>
            </a:pPr>
            <a:r>
              <a:rPr sz="1650" spc="-55" dirty="0">
                <a:latin typeface="Arial MT"/>
                <a:cs typeface="Arial MT"/>
              </a:rPr>
              <a:t>Which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of </a:t>
            </a:r>
            <a:r>
              <a:rPr sz="1650" spc="-25" dirty="0">
                <a:latin typeface="Arial MT"/>
                <a:cs typeface="Arial MT"/>
              </a:rPr>
              <a:t>the</a:t>
            </a:r>
            <a:r>
              <a:rPr sz="1650" spc="-9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top</a:t>
            </a:r>
            <a:r>
              <a:rPr sz="1650" spc="-105" dirty="0">
                <a:latin typeface="Arial MT"/>
                <a:cs typeface="Arial MT"/>
              </a:rPr>
              <a:t> 10 </a:t>
            </a:r>
            <a:r>
              <a:rPr sz="1650" spc="-50" dirty="0">
                <a:latin typeface="Arial MT"/>
                <a:cs typeface="Arial MT"/>
              </a:rPr>
              <a:t>schools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35" dirty="0">
                <a:latin typeface="Arial MT"/>
                <a:cs typeface="Arial MT"/>
              </a:rPr>
              <a:t>emphasize </a:t>
            </a:r>
            <a:r>
              <a:rPr sz="1650" spc="-10" dirty="0">
                <a:latin typeface="Arial MT"/>
                <a:cs typeface="Arial MT"/>
              </a:rPr>
              <a:t>leadership?</a:t>
            </a:r>
            <a:endParaRPr sz="165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27638" y="6247369"/>
            <a:ext cx="186436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 MT"/>
              </a:rPr>
              <a:t>Contextual Answer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142203" y="2784122"/>
            <a:ext cx="7039609" cy="1267911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3970" algn="just">
              <a:lnSpc>
                <a:spcPct val="100000"/>
              </a:lnSpc>
              <a:spcBef>
                <a:spcPts val="275"/>
              </a:spcBef>
            </a:pPr>
            <a:r>
              <a:rPr sz="2000" dirty="0">
                <a:latin typeface="Arial MT"/>
              </a:rPr>
              <a:t>Quantitative Rankings Need Qualitative Context:</a:t>
            </a:r>
          </a:p>
          <a:p>
            <a:pPr marL="14604" marR="5080" indent="-2540" algn="just">
              <a:lnSpc>
                <a:spcPct val="96200"/>
              </a:lnSpc>
              <a:spcBef>
                <a:spcPts val="290"/>
              </a:spcBef>
            </a:pPr>
            <a:r>
              <a:rPr sz="2000" dirty="0">
                <a:latin typeface="Arial MT"/>
              </a:rPr>
              <a:t>Our data can tell you what a college costs, but not what it stands for. We integrated an AI layer to provide this crucial context.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143268" y="4618042"/>
            <a:ext cx="7456170" cy="275652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latin typeface="Arial MT"/>
              </a:rPr>
              <a:t>How Retrieval-Augmented Generation (RAG) Works:</a:t>
            </a:r>
          </a:p>
          <a:p>
            <a:pPr marL="532130" indent="-385445">
              <a:lnSpc>
                <a:spcPts val="2680"/>
              </a:lnSpc>
              <a:spcBef>
                <a:spcPts val="190"/>
              </a:spcBef>
              <a:buAutoNum type="arabicPeriod"/>
              <a:tabLst>
                <a:tab pos="532130" algn="l"/>
              </a:tabLst>
            </a:pPr>
            <a:r>
              <a:rPr sz="2000" dirty="0">
                <a:latin typeface="Arial MT"/>
              </a:rPr>
              <a:t>Ingestion: We indexed the official mission statements of</a:t>
            </a:r>
          </a:p>
          <a:p>
            <a:pPr marL="548640">
              <a:lnSpc>
                <a:spcPts val="2655"/>
              </a:lnSpc>
              <a:tabLst>
                <a:tab pos="4316095" algn="l"/>
              </a:tabLst>
            </a:pPr>
            <a:r>
              <a:rPr sz="2000" dirty="0">
                <a:latin typeface="Arial MT"/>
              </a:rPr>
              <a:t>all universities from the IPEDS</a:t>
            </a:r>
            <a:r>
              <a:rPr lang="en-IN" sz="2000" dirty="0">
                <a:latin typeface="Arial MT"/>
              </a:rPr>
              <a:t> ‘</a:t>
            </a:r>
            <a:r>
              <a:rPr sz="2000" dirty="0">
                <a:latin typeface="Arial MT"/>
              </a:rPr>
              <a:t>IC2022Mission</a:t>
            </a:r>
            <a:r>
              <a:rPr lang="en-IN" sz="2000" dirty="0">
                <a:latin typeface="Arial MT"/>
              </a:rPr>
              <a:t>'</a:t>
            </a:r>
            <a:r>
              <a:rPr sz="2000" dirty="0">
                <a:latin typeface="Arial MT"/>
              </a:rPr>
              <a:t> file.</a:t>
            </a:r>
          </a:p>
          <a:p>
            <a:pPr marL="535305" indent="-378460">
              <a:lnSpc>
                <a:spcPts val="2700"/>
              </a:lnSpc>
              <a:buAutoNum type="arabicPeriod" startAt="2"/>
              <a:tabLst>
                <a:tab pos="535305" algn="l"/>
              </a:tabLst>
            </a:pPr>
            <a:r>
              <a:rPr sz="2000" dirty="0">
                <a:latin typeface="Arial MT"/>
              </a:rPr>
              <a:t>Retrieval: When you ask a question in natural language,</a:t>
            </a:r>
          </a:p>
          <a:p>
            <a:pPr marL="541655">
              <a:lnSpc>
                <a:spcPts val="2560"/>
              </a:lnSpc>
            </a:pPr>
            <a:r>
              <a:rPr sz="2000" dirty="0">
                <a:latin typeface="Arial MT"/>
              </a:rPr>
              <a:t>the system finds the most semantically relevant passages</a:t>
            </a:r>
          </a:p>
          <a:p>
            <a:pPr marL="543560">
              <a:lnSpc>
                <a:spcPts val="2690"/>
              </a:lnSpc>
            </a:pPr>
            <a:r>
              <a:rPr sz="2000" dirty="0">
                <a:latin typeface="Arial MT"/>
              </a:rPr>
              <a:t>from the mission statements.</a:t>
            </a:r>
          </a:p>
          <a:p>
            <a:pPr marL="543560" indent="-390525">
              <a:lnSpc>
                <a:spcPts val="2545"/>
              </a:lnSpc>
              <a:buAutoNum type="arabicPeriod" startAt="3"/>
              <a:tabLst>
                <a:tab pos="543560" algn="l"/>
              </a:tabLst>
            </a:pPr>
            <a:r>
              <a:rPr sz="2000" dirty="0">
                <a:latin typeface="Arial MT"/>
              </a:rPr>
              <a:t>Generation: A Large Language Model then synthesizes</a:t>
            </a:r>
          </a:p>
          <a:p>
            <a:pPr marL="541020">
              <a:lnSpc>
                <a:spcPts val="2870"/>
              </a:lnSpc>
            </a:pPr>
            <a:r>
              <a:rPr sz="2000" dirty="0">
                <a:latin typeface="Arial MT"/>
              </a:rPr>
              <a:t>these retrieved passages into a coherent, direct answer.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144749" y="7787569"/>
            <a:ext cx="8192134" cy="172483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145">
              <a:lnSpc>
                <a:spcPts val="2790"/>
              </a:lnSpc>
              <a:spcBef>
                <a:spcPts val="130"/>
              </a:spcBef>
            </a:pPr>
            <a:r>
              <a:rPr sz="2000" dirty="0">
                <a:latin typeface="Arial MT"/>
              </a:rPr>
              <a:t>The Result:</a:t>
            </a:r>
          </a:p>
          <a:p>
            <a:pPr marL="12700" marR="1083310" indent="12065">
              <a:lnSpc>
                <a:spcPct val="85400"/>
              </a:lnSpc>
              <a:spcBef>
                <a:spcPts val="380"/>
              </a:spcBef>
            </a:pPr>
            <a:r>
              <a:rPr sz="2000" dirty="0">
                <a:latin typeface="Arial MT"/>
              </a:rPr>
              <a:t>A powerful tool to validate our quantitative findings against each university's own stated purpose, ensuring a holistic match.</a:t>
            </a:r>
          </a:p>
          <a:p>
            <a:pPr marR="5080" algn="r">
              <a:lnSpc>
                <a:spcPct val="100000"/>
              </a:lnSpc>
              <a:spcBef>
                <a:spcPts val="1639"/>
              </a:spcBef>
            </a:pPr>
            <a:endParaRPr sz="2000" dirty="0">
              <a:latin typeface="Arial M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82881F-3BAF-6D4D-3FEA-E8DF4DFEC296}"/>
              </a:ext>
            </a:extLst>
          </p:cNvPr>
          <p:cNvSpPr txBox="1"/>
          <p:nvPr/>
        </p:nvSpPr>
        <p:spPr>
          <a:xfrm>
            <a:off x="882000" y="7981950"/>
            <a:ext cx="56260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 MT"/>
              </a:rPr>
              <a:t>Note:</a:t>
            </a:r>
            <a:r>
              <a:rPr lang="en-IN" sz="2000" dirty="0">
                <a:latin typeface="Arial MT"/>
              </a:rPr>
              <a:t> </a:t>
            </a:r>
            <a:r>
              <a:rPr lang="en-US" sz="2000" dirty="0">
                <a:latin typeface="Arial MT"/>
              </a:rPr>
              <a:t>the mission statement data is ready for ingestion, but currently does not initialize the vector store or build the query-answering AI</a:t>
            </a:r>
            <a:endParaRPr lang="en-IN" sz="2000" dirty="0">
              <a:latin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9100" y="2247900"/>
            <a:ext cx="88900" cy="20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3775" y="760941"/>
            <a:ext cx="15110460" cy="75982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800" dirty="0">
                <a:latin typeface="Cambria" panose="02040503050406030204" pitchFamily="18" charset="0"/>
                <a:ea typeface="Cambria" panose="02040503050406030204" pitchFamily="18" charset="0"/>
              </a:rPr>
              <a:t>2022-23</a:t>
            </a:r>
            <a:r>
              <a:rPr sz="4800" dirty="0">
                <a:latin typeface="Cambria" panose="02040503050406030204" pitchFamily="18" charset="0"/>
                <a:ea typeface="Cambria" panose="02040503050406030204" pitchFamily="18" charset="0"/>
              </a:rPr>
              <a:t> Top 10 College Sho</a:t>
            </a:r>
            <a:r>
              <a:rPr lang="en-IN" sz="4800" dirty="0">
                <a:latin typeface="Cambria" panose="02040503050406030204" pitchFamily="18" charset="0"/>
                <a:ea typeface="Cambria" panose="02040503050406030204" pitchFamily="18" charset="0"/>
              </a:rPr>
              <a:t>rt</a:t>
            </a:r>
            <a:r>
              <a:rPr sz="4800" dirty="0">
                <a:latin typeface="Cambria" panose="02040503050406030204" pitchFamily="18" charset="0"/>
                <a:ea typeface="Cambria" panose="02040503050406030204" pitchFamily="18" charset="0"/>
              </a:rPr>
              <a:t>list for Merit-Based Value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91060"/>
              </p:ext>
            </p:extLst>
          </p:nvPr>
        </p:nvGraphicFramePr>
        <p:xfrm>
          <a:off x="1407257" y="1812977"/>
          <a:ext cx="14637384" cy="3992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9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5960">
                <a:tc>
                  <a:txBody>
                    <a:bodyPr/>
                    <a:lstStyle/>
                    <a:p>
                      <a:pPr marR="219710" algn="ctr">
                        <a:lnSpc>
                          <a:spcPts val="2505"/>
                        </a:lnSpc>
                      </a:pPr>
                      <a:r>
                        <a:rPr sz="2000" dirty="0">
                          <a:latin typeface="Arial MT"/>
                        </a:rPr>
                        <a:t>Rank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9079">
                        <a:lnSpc>
                          <a:spcPts val="2535"/>
                        </a:lnSpc>
                      </a:pPr>
                      <a:r>
                        <a:rPr sz="2000" dirty="0">
                          <a:latin typeface="Arial MT"/>
                        </a:rPr>
                        <a:t>Institution Name ("INSTNM”)</a:t>
                      </a:r>
                    </a:p>
                    <a:p>
                      <a:pPr marL="269875">
                        <a:lnSpc>
                          <a:spcPts val="2705"/>
                        </a:lnSpc>
                        <a:spcBef>
                          <a:spcPts val="140"/>
                        </a:spcBef>
                      </a:pPr>
                      <a:r>
                        <a:rPr sz="2000" dirty="0">
                          <a:latin typeface="Arial MT"/>
                        </a:rPr>
                        <a:t>Williams College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2535"/>
                        </a:lnSpc>
                      </a:pPr>
                      <a:r>
                        <a:rPr sz="2000" dirty="0">
                          <a:latin typeface="Arial MT"/>
                        </a:rPr>
                        <a:t>Your Net Price</a:t>
                      </a:r>
                      <a:endParaRPr sz="2000">
                        <a:latin typeface="Arial MT"/>
                      </a:endParaRPr>
                    </a:p>
                    <a:p>
                      <a:pPr marL="1174115">
                        <a:lnSpc>
                          <a:spcPts val="2705"/>
                        </a:lnSpc>
                        <a:spcBef>
                          <a:spcPts val="140"/>
                        </a:spcBef>
                      </a:pPr>
                      <a:r>
                        <a:rPr sz="2000" dirty="0">
                          <a:latin typeface="Arial MT"/>
                        </a:rPr>
                        <a:t>$18,500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ts val="2535"/>
                        </a:lnSpc>
                      </a:pPr>
                      <a:r>
                        <a:rPr lang="en-IN" sz="2000" dirty="0">
                          <a:latin typeface="Arial MT"/>
                        </a:rPr>
                        <a:t>      </a:t>
                      </a:r>
                      <a:r>
                        <a:rPr sz="2000" dirty="0">
                          <a:latin typeface="Arial MT"/>
                        </a:rPr>
                        <a:t>Merit Generosity Index (MGI)</a:t>
                      </a:r>
                    </a:p>
                    <a:p>
                      <a:pPr marL="3463290">
                        <a:lnSpc>
                          <a:spcPts val="2705"/>
                        </a:lnSpc>
                        <a:spcBef>
                          <a:spcPts val="140"/>
                        </a:spcBef>
                      </a:pPr>
                      <a:r>
                        <a:rPr sz="2000" dirty="0">
                          <a:latin typeface="Arial MT"/>
                        </a:rPr>
                        <a:t>0.82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2535"/>
                        </a:lnSpc>
                      </a:pPr>
                      <a:r>
                        <a:rPr sz="2000" dirty="0">
                          <a:latin typeface="Arial MT"/>
                        </a:rPr>
                        <a:t>Composite Score</a:t>
                      </a:r>
                      <a:endParaRPr sz="2000">
                        <a:latin typeface="Arial MT"/>
                      </a:endParaRPr>
                    </a:p>
                    <a:p>
                      <a:pPr marL="2231390">
                        <a:lnSpc>
                          <a:spcPts val="2705"/>
                        </a:lnSpc>
                        <a:spcBef>
                          <a:spcPts val="140"/>
                        </a:spcBef>
                      </a:pPr>
                      <a:r>
                        <a:rPr sz="2000" dirty="0">
                          <a:latin typeface="Arial MT"/>
                        </a:rPr>
                        <a:t>95.1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585">
                <a:tc>
                  <a:txBody>
                    <a:bodyPr/>
                    <a:lstStyle/>
                    <a:p>
                      <a:pPr marR="203835" algn="ctr">
                        <a:lnSpc>
                          <a:spcPts val="2515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 MT"/>
                        </a:rPr>
                        <a:t>2</a:t>
                      </a: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ts val="2665"/>
                        </a:lnSpc>
                        <a:spcBef>
                          <a:spcPts val="90"/>
                        </a:spcBef>
                      </a:pPr>
                      <a:r>
                        <a:rPr sz="2000" dirty="0">
                          <a:latin typeface="Arial MT"/>
                        </a:rPr>
                        <a:t>Princeton University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309245" algn="r">
                        <a:lnSpc>
                          <a:spcPts val="2665"/>
                        </a:lnSpc>
                        <a:spcBef>
                          <a:spcPts val="90"/>
                        </a:spcBef>
                      </a:pPr>
                      <a:r>
                        <a:rPr sz="2000" dirty="0">
                          <a:latin typeface="Arial MT"/>
                        </a:rPr>
                        <a:t>$21,000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76225" algn="r">
                        <a:lnSpc>
                          <a:spcPts val="2665"/>
                        </a:lnSpc>
                        <a:spcBef>
                          <a:spcPts val="90"/>
                        </a:spcBef>
                      </a:pPr>
                      <a:r>
                        <a:rPr sz="2000" dirty="0">
                          <a:latin typeface="Arial MT"/>
                        </a:rPr>
                        <a:t>0.58</a:t>
                      </a: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ts val="2665"/>
                        </a:lnSpc>
                        <a:spcBef>
                          <a:spcPts val="90"/>
                        </a:spcBef>
                      </a:pPr>
                      <a:r>
                        <a:rPr sz="2000" dirty="0">
                          <a:latin typeface="Arial MT"/>
                        </a:rPr>
                        <a:t>82.4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marR="185420" algn="ctr">
                        <a:lnSpc>
                          <a:spcPts val="277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Arial MT"/>
                        </a:rPr>
                        <a:t>3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ts val="262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Arial MT"/>
                        </a:rPr>
                        <a:t>Wesleyan University</a:t>
                      </a: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R="309245" algn="r">
                        <a:lnSpc>
                          <a:spcPts val="2720"/>
                        </a:lnSpc>
                        <a:spcBef>
                          <a:spcPts val="135"/>
                        </a:spcBef>
                      </a:pPr>
                      <a:r>
                        <a:rPr sz="2000" dirty="0">
                          <a:latin typeface="Arial MT"/>
                        </a:rPr>
                        <a:t>$19,200</a:t>
                      </a: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274955" algn="r">
                        <a:lnSpc>
                          <a:spcPts val="2720"/>
                        </a:lnSpc>
                        <a:spcBef>
                          <a:spcPts val="135"/>
                        </a:spcBef>
                      </a:pPr>
                      <a:r>
                        <a:rPr sz="2000" dirty="0">
                          <a:latin typeface="Arial MT"/>
                        </a:rPr>
                        <a:t>0.55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ts val="2720"/>
                        </a:lnSpc>
                        <a:spcBef>
                          <a:spcPts val="135"/>
                        </a:spcBef>
                      </a:pPr>
                      <a:r>
                        <a:rPr sz="2000" dirty="0">
                          <a:latin typeface="Arial MT"/>
                        </a:rPr>
                        <a:t>90.8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R="18923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Arial MT"/>
                        </a:rPr>
                        <a:t>4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Arial MT"/>
                        </a:rPr>
                        <a:t>Yale University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R="32194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dirty="0">
                          <a:latin typeface="Arial MT"/>
                        </a:rPr>
                        <a:t>$22,300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749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dirty="0">
                          <a:latin typeface="Arial MT"/>
                        </a:rPr>
                        <a:t>0.53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dirty="0">
                          <a:latin typeface="Arial MT"/>
                        </a:rPr>
                        <a:t>88.7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19875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00" dirty="0">
                          <a:latin typeface="Arial MT"/>
                        </a:rPr>
                        <a:t>5</a:t>
                      </a: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00" dirty="0">
                          <a:latin typeface="Arial MT"/>
                        </a:rPr>
                        <a:t>Stanford University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 marR="32639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Arial MT"/>
                        </a:rPr>
                        <a:t>$17,900</a:t>
                      </a: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Arial MT"/>
                        </a:rPr>
                        <a:t>0.51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Arial MT"/>
                        </a:rPr>
                        <a:t>87.5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R="208279" algn="ctr">
                        <a:lnSpc>
                          <a:spcPts val="2630"/>
                        </a:lnSpc>
                      </a:pPr>
                      <a:r>
                        <a:rPr sz="2000" dirty="0">
                          <a:latin typeface="Arial MT"/>
                        </a:rPr>
                        <a:t>6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ts val="2570"/>
                        </a:lnSpc>
                      </a:pPr>
                      <a:r>
                        <a:rPr sz="2000" dirty="0">
                          <a:latin typeface="Arial MT"/>
                        </a:rPr>
                        <a:t>Massachusetts Institute of Tech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23215" algn="r">
                        <a:lnSpc>
                          <a:spcPts val="2570"/>
                        </a:lnSpc>
                      </a:pPr>
                      <a:r>
                        <a:rPr sz="2000" dirty="0">
                          <a:latin typeface="Arial MT"/>
                        </a:rPr>
                        <a:t>$23,100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6225" algn="r">
                        <a:lnSpc>
                          <a:spcPts val="2570"/>
                        </a:lnSpc>
                      </a:pPr>
                      <a:r>
                        <a:rPr sz="2000" dirty="0">
                          <a:latin typeface="Arial MT"/>
                        </a:rPr>
                        <a:t>0.50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ts val="2570"/>
                        </a:lnSpc>
                      </a:pPr>
                      <a:r>
                        <a:rPr sz="2000" dirty="0">
                          <a:latin typeface="Arial MT"/>
                        </a:rPr>
                        <a:t>86.2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marR="203200" algn="ctr">
                        <a:lnSpc>
                          <a:spcPts val="2715"/>
                        </a:lnSpc>
                      </a:pPr>
                      <a:r>
                        <a:rPr sz="2000" dirty="0">
                          <a:latin typeface="Arial MT"/>
                        </a:rPr>
                        <a:t>7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dirty="0">
                          <a:latin typeface="Arial MT"/>
                        </a:rPr>
                        <a:t>Johns Hopkins University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316230" algn="r">
                        <a:lnSpc>
                          <a:spcPts val="2675"/>
                        </a:lnSpc>
                      </a:pPr>
                      <a:r>
                        <a:rPr sz="2000" dirty="0">
                          <a:latin typeface="Arial MT"/>
                        </a:rPr>
                        <a:t>$24,500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ts val="2675"/>
                        </a:lnSpc>
                      </a:pPr>
                      <a:r>
                        <a:rPr sz="2000" dirty="0">
                          <a:latin typeface="Arial MT"/>
                        </a:rPr>
                        <a:t>0.48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ts val="2675"/>
                        </a:lnSpc>
                      </a:pPr>
                      <a:r>
                        <a:rPr sz="2000" dirty="0">
                          <a:latin typeface="Arial MT"/>
                        </a:rPr>
                        <a:t>84.0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R="205104" algn="ctr">
                        <a:lnSpc>
                          <a:spcPts val="2660"/>
                        </a:lnSpc>
                      </a:pPr>
                      <a:r>
                        <a:rPr sz="2000" dirty="0">
                          <a:latin typeface="Arial MT"/>
                        </a:rPr>
                        <a:t>8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ts val="2550"/>
                        </a:lnSpc>
                      </a:pPr>
                      <a:r>
                        <a:rPr sz="2000" dirty="0">
                          <a:latin typeface="Arial MT"/>
                        </a:rPr>
                        <a:t>Washington and Lee University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2194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Arial MT"/>
                        </a:rPr>
                        <a:t>$22,800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Arial MT"/>
                        </a:rPr>
                        <a:t>0.49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Arial MT"/>
                        </a:rPr>
                        <a:t>83.1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R="198120" algn="ctr">
                        <a:lnSpc>
                          <a:spcPts val="2555"/>
                        </a:lnSpc>
                      </a:pPr>
                      <a:r>
                        <a:rPr sz="2000" dirty="0">
                          <a:latin typeface="Arial MT"/>
                        </a:rPr>
                        <a:t>9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ts val="2575"/>
                        </a:lnSpc>
                      </a:pPr>
                      <a:r>
                        <a:rPr sz="2000" dirty="0">
                          <a:latin typeface="Arial MT"/>
                        </a:rPr>
                        <a:t>Berea College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2321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dirty="0">
                          <a:latin typeface="Arial MT"/>
                        </a:rPr>
                        <a:t>$15,500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27495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dirty="0">
                          <a:latin typeface="Arial MT"/>
                        </a:rPr>
                        <a:t>0.54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dirty="0">
                          <a:latin typeface="Arial MT"/>
                        </a:rPr>
                        <a:t>82.5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825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R="203200" algn="ctr">
                        <a:lnSpc>
                          <a:spcPts val="2660"/>
                        </a:lnSpc>
                      </a:pPr>
                      <a:r>
                        <a:rPr sz="2000" dirty="0">
                          <a:latin typeface="Arial MT"/>
                        </a:rPr>
                        <a:t>10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ts val="2660"/>
                        </a:lnSpc>
                      </a:pPr>
                      <a:r>
                        <a:rPr sz="2000" dirty="0">
                          <a:latin typeface="Arial MT"/>
                        </a:rPr>
                        <a:t>Amherst College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23215"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00" dirty="0">
                          <a:latin typeface="Arial MT"/>
                        </a:rPr>
                        <a:t>$24,900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 marR="274955"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00" dirty="0">
                          <a:latin typeface="Arial MT"/>
                        </a:rPr>
                        <a:t>0.46</a:t>
                      </a:r>
                      <a:endParaRPr sz="2000">
                        <a:latin typeface="Arial MT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00" dirty="0">
                          <a:latin typeface="Arial MT"/>
                        </a:rPr>
                        <a:t>81.9</a:t>
                      </a:r>
                    </a:p>
                  </a:txBody>
                  <a:tcPr marL="0" marR="0" marT="1905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62411" y="5892789"/>
            <a:ext cx="6925309" cy="2396297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450"/>
              </a:spcBef>
            </a:pPr>
            <a:r>
              <a:rPr sz="2000" dirty="0">
                <a:latin typeface="Arial MT"/>
              </a:rPr>
              <a:t>The Final Ranking:</a:t>
            </a:r>
          </a:p>
          <a:p>
            <a:pPr marL="12700" marR="5080" indent="8255">
              <a:lnSpc>
                <a:spcPct val="93500"/>
              </a:lnSpc>
              <a:spcBef>
                <a:spcPts val="1260"/>
              </a:spcBef>
              <a:tabLst>
                <a:tab pos="2977515" algn="l"/>
              </a:tabLst>
            </a:pPr>
            <a:r>
              <a:rPr sz="2000" dirty="0">
                <a:latin typeface="Arial MT"/>
              </a:rPr>
              <a:t>This list is the culmination of our analysis. Institutions are ranked by a ”Composite	Score‘ that synthesizes the Merit Generosity Index (MGI), 4-year graduation rate, and affordability. These schools represent the optimal intersection of institutional generosity, academic quality, and financial value for your family.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65436" y="5907028"/>
            <a:ext cx="8674100" cy="341305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2000" dirty="0">
                <a:latin typeface="Arial MT"/>
              </a:rPr>
              <a:t>Recommended Next Steps:</a:t>
            </a:r>
          </a:p>
          <a:p>
            <a:pPr marL="454025" indent="-255270">
              <a:lnSpc>
                <a:spcPts val="2730"/>
              </a:lnSpc>
              <a:spcBef>
                <a:spcPts val="1030"/>
              </a:spcBef>
              <a:buAutoNum type="arabicPeriod"/>
              <a:tabLst>
                <a:tab pos="454025" algn="l"/>
              </a:tabLst>
            </a:pPr>
            <a:r>
              <a:rPr sz="2000" dirty="0">
                <a:latin typeface="Arial MT"/>
              </a:rPr>
              <a:t>Explore the Top 5: Begin by visiting the websites of the top five</a:t>
            </a:r>
          </a:p>
          <a:p>
            <a:pPr marL="469265">
              <a:lnSpc>
                <a:spcPts val="2515"/>
              </a:lnSpc>
            </a:pPr>
            <a:r>
              <a:rPr sz="2000" dirty="0">
                <a:latin typeface="Arial MT"/>
              </a:rPr>
              <a:t>schools on this list.</a:t>
            </a:r>
          </a:p>
          <a:p>
            <a:pPr marL="468630" marR="876935" indent="-254635">
              <a:lnSpc>
                <a:spcPct val="93900"/>
              </a:lnSpc>
              <a:spcBef>
                <a:spcPts val="80"/>
              </a:spcBef>
              <a:buAutoNum type="arabicPeriod" startAt="2"/>
              <a:tabLst>
                <a:tab pos="468630" algn="l"/>
                <a:tab pos="475615" algn="l"/>
              </a:tabLst>
            </a:pPr>
            <a:r>
              <a:rPr sz="2000" dirty="0">
                <a:latin typeface="Arial MT"/>
              </a:rPr>
              <a:t>	Verify with a Net Price Calculator: Use each school's official online calculator to get a personalized estimate. Our figures are based on averages; theirs will be specific to your financial situation.</a:t>
            </a:r>
          </a:p>
          <a:p>
            <a:pPr marL="476884" indent="-265430">
              <a:lnSpc>
                <a:spcPts val="2495"/>
              </a:lnSpc>
              <a:buAutoNum type="arabicPeriod" startAt="2"/>
              <a:tabLst>
                <a:tab pos="476884" algn="l"/>
              </a:tabLst>
            </a:pPr>
            <a:r>
              <a:rPr sz="2000" dirty="0">
                <a:latin typeface="Arial MT"/>
              </a:rPr>
              <a:t>Align with Academic &amp; Personal Fit: Discuss this list with your</a:t>
            </a:r>
          </a:p>
          <a:p>
            <a:pPr marL="469265">
              <a:lnSpc>
                <a:spcPts val="2595"/>
              </a:lnSpc>
            </a:pPr>
            <a:r>
              <a:rPr sz="2000" dirty="0">
                <a:latin typeface="Arial MT"/>
              </a:rPr>
              <a:t>student to ensure it aligns with their academic goals and personal</a:t>
            </a:r>
          </a:p>
          <a:p>
            <a:pPr marL="472440">
              <a:lnSpc>
                <a:spcPts val="2610"/>
              </a:lnSpc>
            </a:pPr>
            <a:r>
              <a:rPr sz="2000" dirty="0">
                <a:latin typeface="Arial MT"/>
              </a:rPr>
              <a:t>preferences, finalizing their application strategy.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00" dirty="0"/>
              <a:t>Clarity Through Data: An Actionable and Rigorous 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3852" y="2030588"/>
            <a:ext cx="6727825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solidFill>
                  <a:srgbClr val="111111"/>
                </a:solidFill>
                <a:latin typeface="Cambria"/>
                <a:cs typeface="Cambria"/>
              </a:rPr>
              <a:t>Actionable</a:t>
            </a:r>
            <a:r>
              <a:rPr sz="3200" spc="5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E1833"/>
                </a:solidFill>
                <a:latin typeface="Cambria"/>
                <a:cs typeface="Cambria"/>
              </a:rPr>
              <a:t>Clarity</a:t>
            </a:r>
            <a:r>
              <a:rPr sz="3200" spc="-55" dirty="0">
                <a:solidFill>
                  <a:srgbClr val="0E1833"/>
                </a:solidFill>
                <a:latin typeface="Cambria"/>
                <a:cs typeface="Cambria"/>
              </a:rPr>
              <a:t> </a:t>
            </a:r>
            <a:r>
              <a:rPr sz="3200" spc="-60" dirty="0">
                <a:solidFill>
                  <a:srgbClr val="030A1D"/>
                </a:solidFill>
                <a:latin typeface="Cambria"/>
                <a:cs typeface="Cambria"/>
              </a:rPr>
              <a:t>(For</a:t>
            </a:r>
            <a:r>
              <a:rPr sz="3200" spc="45" dirty="0">
                <a:solidFill>
                  <a:srgbClr val="030A1D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161616"/>
                </a:solidFill>
                <a:latin typeface="Cambria"/>
                <a:cs typeface="Cambria"/>
              </a:rPr>
              <a:t>the</a:t>
            </a:r>
            <a:r>
              <a:rPr sz="3200" spc="-20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3200" spc="-55" dirty="0">
                <a:solidFill>
                  <a:srgbClr val="0C1A36"/>
                </a:solidFill>
                <a:latin typeface="Cambria"/>
                <a:cs typeface="Cambria"/>
              </a:rPr>
              <a:t>Family)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8707" y="2765072"/>
            <a:ext cx="6974205" cy="2620717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486409" marR="5080" indent="-474345">
              <a:lnSpc>
                <a:spcPts val="3200"/>
              </a:lnSpc>
              <a:spcBef>
                <a:spcPts val="315"/>
              </a:spcBef>
              <a:tabLst>
                <a:tab pos="509905" algn="l"/>
                <a:tab pos="2034539" algn="l"/>
                <a:tab pos="4429125" algn="l"/>
              </a:tabLst>
            </a:pPr>
            <a:r>
              <a:rPr lang="en-IN" dirty="0">
                <a:latin typeface="Arial MT"/>
              </a:rPr>
              <a:t>      </a:t>
            </a:r>
            <a:r>
              <a:rPr lang="en-IN" sz="2400" dirty="0">
                <a:latin typeface="Arial MT"/>
              </a:rPr>
              <a:t>  Identified </a:t>
            </a:r>
            <a:r>
              <a:rPr sz="2400" dirty="0">
                <a:latin typeface="Arial MT"/>
              </a:rPr>
              <a:t>and addressed</a:t>
            </a:r>
            <a:r>
              <a:rPr lang="en-IN" sz="2400" dirty="0">
                <a:latin typeface="Arial MT"/>
              </a:rPr>
              <a:t> </a:t>
            </a:r>
            <a:r>
              <a:rPr sz="2400" dirty="0">
                <a:latin typeface="Arial MT"/>
              </a:rPr>
              <a:t>the middle-class "Aid Gap."</a:t>
            </a:r>
          </a:p>
          <a:p>
            <a:pPr marL="487045" marR="201295" indent="8255">
              <a:lnSpc>
                <a:spcPts val="3200"/>
              </a:lnSpc>
              <a:spcBef>
                <a:spcPts val="500"/>
              </a:spcBef>
            </a:pPr>
            <a:r>
              <a:rPr sz="2400" dirty="0">
                <a:latin typeface="Arial MT"/>
              </a:rPr>
              <a:t>Delivered a data-validated shortlist of 10 high—value colleges.</a:t>
            </a:r>
          </a:p>
          <a:p>
            <a:pPr marL="496570" marR="304800" indent="5080">
              <a:lnSpc>
                <a:spcPts val="3250"/>
              </a:lnSpc>
              <a:spcBef>
                <a:spcPts val="459"/>
              </a:spcBef>
              <a:tabLst>
                <a:tab pos="1952625" algn="l"/>
              </a:tabLst>
            </a:pPr>
            <a:r>
              <a:rPr sz="2400" dirty="0">
                <a:latin typeface="Arial MT"/>
              </a:rPr>
              <a:t>Provided</a:t>
            </a:r>
            <a:r>
              <a:rPr lang="en-IN" sz="2400" dirty="0">
                <a:latin typeface="Arial MT"/>
              </a:rPr>
              <a:t> </a:t>
            </a:r>
            <a:r>
              <a:rPr sz="2400" dirty="0">
                <a:latin typeface="Arial MT"/>
              </a:rPr>
              <a:t>clear tools (visualizations, AI) and next steps for an informed decision.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08617" y="1839891"/>
            <a:ext cx="6841490" cy="3395801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436245" indent="-424180">
              <a:lnSpc>
                <a:spcPct val="100000"/>
              </a:lnSpc>
              <a:spcBef>
                <a:spcPts val="1610"/>
              </a:spcBef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</a:rPr>
              <a:t>Technical Rigor (For the Professor)</a:t>
            </a:r>
          </a:p>
          <a:p>
            <a:pPr marL="426720" marR="276860" indent="9525">
              <a:lnSpc>
                <a:spcPts val="3200"/>
              </a:lnSpc>
              <a:spcBef>
                <a:spcPts val="1670"/>
              </a:spcBef>
              <a:tabLst>
                <a:tab pos="1553845" algn="l"/>
                <a:tab pos="1955164" algn="l"/>
              </a:tabLst>
            </a:pPr>
            <a:r>
              <a:rPr sz="2400" dirty="0">
                <a:latin typeface="Arial MT"/>
              </a:rPr>
              <a:t>Executed</a:t>
            </a:r>
            <a:r>
              <a:rPr lang="en-IN" sz="2400" dirty="0">
                <a:latin typeface="Arial MT"/>
              </a:rPr>
              <a:t> </a:t>
            </a:r>
            <a:r>
              <a:rPr sz="2400" dirty="0">
                <a:latin typeface="Arial MT"/>
              </a:rPr>
              <a:t>a robust 8-file ETL pipeline on official</a:t>
            </a:r>
            <a:r>
              <a:rPr lang="en-IN" sz="2400" dirty="0">
                <a:latin typeface="Arial MT"/>
              </a:rPr>
              <a:t> </a:t>
            </a:r>
            <a:r>
              <a:rPr sz="2400" dirty="0">
                <a:latin typeface="Arial MT"/>
              </a:rPr>
              <a:t>IPEDS data.</a:t>
            </a:r>
          </a:p>
          <a:p>
            <a:pPr marL="427990" marR="533400" indent="10160">
              <a:lnSpc>
                <a:spcPts val="3200"/>
              </a:lnSpc>
              <a:spcBef>
                <a:spcPts val="500"/>
              </a:spcBef>
              <a:tabLst>
                <a:tab pos="2172335" algn="l"/>
                <a:tab pos="4153535" algn="l"/>
                <a:tab pos="5220335" algn="l"/>
              </a:tabLst>
            </a:pPr>
            <a:r>
              <a:rPr sz="2400" dirty="0">
                <a:latin typeface="Arial MT"/>
              </a:rPr>
              <a:t>Developed</a:t>
            </a:r>
            <a:r>
              <a:rPr lang="en-IN" sz="2400" dirty="0">
                <a:latin typeface="Arial MT"/>
              </a:rPr>
              <a:t> </a:t>
            </a:r>
            <a:r>
              <a:rPr sz="2400" dirty="0">
                <a:latin typeface="Arial MT"/>
              </a:rPr>
              <a:t>and justified</a:t>
            </a:r>
            <a:r>
              <a:rPr lang="en-IN" sz="2400" dirty="0">
                <a:latin typeface="Arial MT"/>
              </a:rPr>
              <a:t> </a:t>
            </a:r>
            <a:r>
              <a:rPr sz="2400" dirty="0">
                <a:latin typeface="Arial MT"/>
              </a:rPr>
              <a:t>a novel metric (MGI) to proxy for merit-based</a:t>
            </a:r>
            <a:r>
              <a:rPr lang="en-IN" sz="2400" dirty="0">
                <a:latin typeface="Arial MT"/>
              </a:rPr>
              <a:t> </a:t>
            </a:r>
            <a:r>
              <a:rPr sz="2400" dirty="0">
                <a:latin typeface="Arial MT"/>
              </a:rPr>
              <a:t>aid.</a:t>
            </a:r>
          </a:p>
          <a:p>
            <a:pPr marL="437515" marR="182880" indent="635">
              <a:lnSpc>
                <a:spcPct val="96000"/>
              </a:lnSpc>
              <a:spcBef>
                <a:spcPts val="495"/>
              </a:spcBef>
              <a:tabLst>
                <a:tab pos="1981200" algn="l"/>
                <a:tab pos="2286635" algn="l"/>
                <a:tab pos="2774950" algn="l"/>
                <a:tab pos="3656329" algn="l"/>
              </a:tabLst>
            </a:pPr>
            <a:r>
              <a:rPr sz="2400" dirty="0">
                <a:latin typeface="Arial MT"/>
              </a:rPr>
              <a:t>Deployed</a:t>
            </a:r>
            <a:r>
              <a:rPr lang="en-IN" sz="2400" dirty="0">
                <a:latin typeface="Arial MT"/>
              </a:rPr>
              <a:t> </a:t>
            </a:r>
            <a:r>
              <a:rPr sz="2400" dirty="0">
                <a:latin typeface="Arial MT"/>
              </a:rPr>
              <a:t>innovative</a:t>
            </a:r>
            <a:r>
              <a:rPr lang="en-IN" sz="2400" dirty="0">
                <a:latin typeface="Arial MT"/>
              </a:rPr>
              <a:t> </a:t>
            </a:r>
            <a:r>
              <a:rPr sz="2400" dirty="0">
                <a:latin typeface="Arial MT"/>
              </a:rPr>
              <a:t>visualizations</a:t>
            </a:r>
            <a:r>
              <a:rPr lang="en-IN" sz="2400" dirty="0">
                <a:latin typeface="Arial MT"/>
              </a:rPr>
              <a:t> and an interactive tool to filter findings</a:t>
            </a:r>
            <a:endParaRPr sz="2400" dirty="0">
              <a:latin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8743" y="5485692"/>
            <a:ext cx="14212569" cy="321626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334135" algn="ctr">
              <a:lnSpc>
                <a:spcPct val="100000"/>
              </a:lnSpc>
              <a:spcBef>
                <a:spcPts val="1200"/>
              </a:spcBef>
            </a:pPr>
            <a:r>
              <a:rPr sz="3200" dirty="0">
                <a:latin typeface="Arial MT"/>
              </a:rPr>
              <a:t>Works Cited</a:t>
            </a:r>
          </a:p>
          <a:p>
            <a:pPr marL="12700" marR="5080" indent="15875">
              <a:lnSpc>
                <a:spcPct val="150000"/>
              </a:lnSpc>
              <a:spcBef>
                <a:spcPts val="869"/>
              </a:spcBef>
            </a:pPr>
            <a:r>
              <a:rPr dirty="0">
                <a:latin typeface="Arial MT"/>
              </a:rPr>
              <a:t>National Center for Education Statistics (NCES). (2024). Integrated Postsecondary Education Data System (IPEDS) 2022-23 Survey Component Data Files. U.S. Department of Education. Retrieved from https://nces.ed.gov/ipeds/use-the-data</a:t>
            </a:r>
          </a:p>
          <a:p>
            <a:pPr marL="28575" marR="3033395" indent="-12700">
              <a:lnSpc>
                <a:spcPct val="150000"/>
              </a:lnSpc>
              <a:spcBef>
                <a:spcPts val="80"/>
              </a:spcBef>
            </a:pPr>
            <a:r>
              <a:rPr dirty="0">
                <a:latin typeface="Arial MT"/>
              </a:rPr>
              <a:t>Pytlak, J. (2023). DuckoB: The SQL engine for data scientists. Retrieved from https://duckdb.org/ Plotly Technologies Inc. (2015). Co//aboraf/ve data science. Montréal, QC. Retrieved from https://plot.Iy</a:t>
            </a:r>
          </a:p>
          <a:p>
            <a:pPr marL="29845" marR="1074420" indent="-1270">
              <a:lnSpc>
                <a:spcPct val="150000"/>
              </a:lnSpc>
              <a:spcBef>
                <a:spcPts val="20"/>
              </a:spcBef>
            </a:pPr>
            <a:r>
              <a:rPr dirty="0">
                <a:latin typeface="Arial MT"/>
              </a:rPr>
              <a:t>Python Software Foundation. (2024). Python Language Reference, version 3.12. Retrieved from </a:t>
            </a:r>
            <a:r>
              <a:rPr dirty="0">
                <a:latin typeface="Arial MT"/>
                <a:hlinkClick r:id="rId2"/>
              </a:rPr>
              <a:t>https://www.python.orgl</a:t>
            </a:r>
            <a:r>
              <a:rPr dirty="0">
                <a:latin typeface="Arial MT"/>
              </a:rPr>
              <a:t> The LangChain Team. (2024). LangChain Documentation. Retrieved from https://docs.Iangchain.com/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</TotalTime>
  <Words>1681</Words>
  <Application>Microsoft Office PowerPoint</Application>
  <PresentationFormat>Custom</PresentationFormat>
  <Paragraphs>213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 MT</vt:lpstr>
      <vt:lpstr>Calibri</vt:lpstr>
      <vt:lpstr>Cambria</vt:lpstr>
      <vt:lpstr>Consolas</vt:lpstr>
      <vt:lpstr>Courier New</vt:lpstr>
      <vt:lpstr>Times New Roman</vt:lpstr>
      <vt:lpstr>Office Theme</vt:lpstr>
      <vt:lpstr>Phase 3 Final Submission</vt:lpstr>
      <vt:lpstr>Beyond Sticker Price: Finding Affordable Excellence for Middle-Class Families</vt:lpstr>
      <vt:lpstr>Building a Foundation of Trust: Our Data Pipeline</vt:lpstr>
      <vt:lpstr>A  New Lens on Value: The Merit Generosity Index (MGI)</vt:lpstr>
      <vt:lpstr>The Discount Gap: Visualizing the Difference Between Sticker Price and Your Price</vt:lpstr>
      <vt:lpstr>Finding the Sweet Spot: Balancing Cost, Quality, and Aid</vt:lpstr>
      <vt:lpstr>Beyond the Numbers: Understanding a College’s Values with AI</vt:lpstr>
      <vt:lpstr>2022-23 Top 10 College Shortlist for Merit-Based Value</vt:lpstr>
      <vt:lpstr>Clarity Through Data: An Actionable and Rigorous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Zahra Zaidi</dc:creator>
  <cp:lastModifiedBy>Liqa Hasan Zaidi</cp:lastModifiedBy>
  <cp:revision>4</cp:revision>
  <dcterms:created xsi:type="dcterms:W3CDTF">2025-12-04T14:03:33Z</dcterms:created>
  <dcterms:modified xsi:type="dcterms:W3CDTF">2026-07-02T23:21:36Z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LastSaved">
    <vt:filetime>2025-12-04T00:00:00Z</vt:filetime>
  </property>
</Properties>
</file>